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Chunk Five" charset="1" panose="00000500000000000000"/>
      <p:regular r:id="rId22"/>
    </p:embeddedFont>
    <p:embeddedFont>
      <p:font typeface="Roboto" charset="1" panose="020000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278633" y="-2493005"/>
            <a:ext cx="16962147" cy="16962147"/>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DC3C5">
                <a:alpha val="49804"/>
              </a:srgbClr>
            </a:solidFill>
          </p:spPr>
        </p:sp>
      </p:grpSp>
      <p:sp>
        <p:nvSpPr>
          <p:cNvPr name="Freeform 4" id="4"/>
          <p:cNvSpPr/>
          <p:nvPr/>
        </p:nvSpPr>
        <p:spPr>
          <a:xfrm flipH="false" flipV="false" rot="-153927">
            <a:off x="9886570" y="786380"/>
            <a:ext cx="9088809" cy="9088809"/>
          </a:xfrm>
          <a:custGeom>
            <a:avLst/>
            <a:gdLst/>
            <a:ahLst/>
            <a:cxnLst/>
            <a:rect r="r" b="b" t="t" l="l"/>
            <a:pathLst>
              <a:path h="9088809" w="9088809">
                <a:moveTo>
                  <a:pt x="0" y="0"/>
                </a:moveTo>
                <a:lnTo>
                  <a:pt x="9088809" y="0"/>
                </a:lnTo>
                <a:lnTo>
                  <a:pt x="9088809" y="9088809"/>
                </a:lnTo>
                <a:lnTo>
                  <a:pt x="0" y="90888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028700" y="4086660"/>
            <a:ext cx="8659014" cy="2488249"/>
          </a:xfrm>
          <a:prstGeom prst="rect">
            <a:avLst/>
          </a:prstGeom>
        </p:spPr>
        <p:txBody>
          <a:bodyPr anchor="t" rtlCol="false" tIns="0" lIns="0" bIns="0" rIns="0">
            <a:spAutoFit/>
          </a:bodyPr>
          <a:lstStyle/>
          <a:p>
            <a:pPr algn="l">
              <a:lnSpc>
                <a:spcPts val="6162"/>
              </a:lnSpc>
            </a:pPr>
            <a:r>
              <a:rPr lang="en-US" sz="6162" spc="166">
                <a:solidFill>
                  <a:srgbClr val="FE502D"/>
                </a:solidFill>
                <a:latin typeface="Chunk Five"/>
                <a:ea typeface="Chunk Five"/>
                <a:cs typeface="Chunk Five"/>
                <a:sym typeface="Chunk Five"/>
              </a:rPr>
              <a:t>INF</a:t>
            </a:r>
            <a:r>
              <a:rPr lang="en-US" sz="6162" spc="166">
                <a:solidFill>
                  <a:srgbClr val="FE502D"/>
                </a:solidFill>
                <a:latin typeface="Chunk Five"/>
                <a:ea typeface="Chunk Five"/>
                <a:cs typeface="Chunk Five"/>
                <a:sym typeface="Chunk Five"/>
              </a:rPr>
              <a:t>RASTRUKTUR IT: ON-PREMISES, CLOUD, DAN HYBRID</a:t>
            </a:r>
          </a:p>
        </p:txBody>
      </p:sp>
      <p:sp>
        <p:nvSpPr>
          <p:cNvPr name="Freeform 6" id="6"/>
          <p:cNvSpPr/>
          <p:nvPr/>
        </p:nvSpPr>
        <p:spPr>
          <a:xfrm flipH="false" flipV="false" rot="0">
            <a:off x="1028700" y="1028700"/>
            <a:ext cx="630943" cy="828207"/>
          </a:xfrm>
          <a:custGeom>
            <a:avLst/>
            <a:gdLst/>
            <a:ahLst/>
            <a:cxnLst/>
            <a:rect r="r" b="b" t="t" l="l"/>
            <a:pathLst>
              <a:path h="828207" w="630943">
                <a:moveTo>
                  <a:pt x="0" y="0"/>
                </a:moveTo>
                <a:lnTo>
                  <a:pt x="630943" y="0"/>
                </a:lnTo>
                <a:lnTo>
                  <a:pt x="630943" y="828207"/>
                </a:lnTo>
                <a:lnTo>
                  <a:pt x="0" y="8282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844124"/>
            <a:ext cx="9886257" cy="2368549"/>
          </a:xfrm>
          <a:prstGeom prst="rect">
            <a:avLst/>
          </a:prstGeom>
        </p:spPr>
        <p:txBody>
          <a:bodyPr anchor="t" rtlCol="false" tIns="0" lIns="0" bIns="0" rIns="0">
            <a:spAutoFit/>
          </a:bodyPr>
          <a:lstStyle/>
          <a:p>
            <a:pPr algn="ctr" marL="0" indent="0" lvl="0">
              <a:lnSpc>
                <a:spcPts val="8499"/>
              </a:lnSpc>
              <a:spcBef>
                <a:spcPct val="0"/>
              </a:spcBef>
            </a:pPr>
            <a:r>
              <a:rPr lang="en-US" sz="8499">
                <a:solidFill>
                  <a:srgbClr val="FE502D"/>
                </a:solidFill>
                <a:latin typeface="Chunk Five"/>
                <a:ea typeface="Chunk Five"/>
                <a:cs typeface="Chunk Five"/>
                <a:sym typeface="Chunk Five"/>
              </a:rPr>
              <a:t>A.</a:t>
            </a:r>
            <a:r>
              <a:rPr lang="en-US" sz="8499" u="none">
                <a:solidFill>
                  <a:srgbClr val="FE502D"/>
                </a:solidFill>
                <a:latin typeface="Chunk Five"/>
                <a:ea typeface="Chunk Five"/>
                <a:cs typeface="Chunk Five"/>
                <a:sym typeface="Chunk Five"/>
              </a:rPr>
              <a:t> Infrastruktur On-Premises</a:t>
            </a:r>
          </a:p>
        </p:txBody>
      </p:sp>
      <p:sp>
        <p:nvSpPr>
          <p:cNvPr name="TextBox 3" id="3"/>
          <p:cNvSpPr txBox="true"/>
          <p:nvPr/>
        </p:nvSpPr>
        <p:spPr>
          <a:xfrm rot="0">
            <a:off x="1028700" y="5262154"/>
            <a:ext cx="9886257" cy="3046730"/>
          </a:xfrm>
          <a:prstGeom prst="rect">
            <a:avLst/>
          </a:prstGeom>
        </p:spPr>
        <p:txBody>
          <a:bodyPr anchor="t" rtlCol="false" tIns="0" lIns="0" bIns="0" rIns="0">
            <a:spAutoFit/>
          </a:bodyPr>
          <a:lstStyle/>
          <a:p>
            <a:pPr algn="just">
              <a:lnSpc>
                <a:spcPts val="4000"/>
              </a:lnSpc>
            </a:pPr>
            <a:r>
              <a:rPr lang="en-US" sz="3200" spc="-64">
                <a:solidFill>
                  <a:srgbClr val="000000"/>
                </a:solidFill>
                <a:latin typeface="Roboto"/>
                <a:ea typeface="Roboto"/>
                <a:cs typeface="Roboto"/>
                <a:sym typeface="Roboto"/>
              </a:rPr>
              <a:t>Infrastruktur On-Premises adalah model tradisional di mana seluruh aset teknologi informasi (TI), seperti server, storage, dan perangkat jaringan, berada di dalam lingkungan fisik perusahaan. Semua sistem ini dikelola, dikontrol, dan dipelihara oleh tim TI internal.</a:t>
            </a:r>
          </a:p>
          <a:p>
            <a:pPr algn="just" marL="0" indent="0" lvl="0">
              <a:lnSpc>
                <a:spcPts val="3999"/>
              </a:lnSpc>
            </a:pPr>
          </a:p>
        </p:txBody>
      </p:sp>
      <p:grpSp>
        <p:nvGrpSpPr>
          <p:cNvPr name="Group 4" id="4"/>
          <p:cNvGrpSpPr/>
          <p:nvPr/>
        </p:nvGrpSpPr>
        <p:grpSpPr>
          <a:xfrm rot="0">
            <a:off x="11298579" y="1663606"/>
            <a:ext cx="6404859" cy="7273297"/>
            <a:chOff x="0" y="0"/>
            <a:chExt cx="8539811" cy="9697730"/>
          </a:xfrm>
        </p:grpSpPr>
        <p:sp>
          <p:nvSpPr>
            <p:cNvPr name="Freeform 5" id="5"/>
            <p:cNvSpPr/>
            <p:nvPr/>
          </p:nvSpPr>
          <p:spPr>
            <a:xfrm flipH="false" flipV="false" rot="0">
              <a:off x="0" y="2179267"/>
              <a:ext cx="6506888" cy="7518463"/>
            </a:xfrm>
            <a:custGeom>
              <a:avLst/>
              <a:gdLst/>
              <a:ahLst/>
              <a:cxnLst/>
              <a:rect r="r" b="b" t="t" l="l"/>
              <a:pathLst>
                <a:path h="7518463" w="6506888">
                  <a:moveTo>
                    <a:pt x="0" y="0"/>
                  </a:moveTo>
                  <a:lnTo>
                    <a:pt x="6506888" y="0"/>
                  </a:lnTo>
                  <a:lnTo>
                    <a:pt x="6506888" y="7518463"/>
                  </a:lnTo>
                  <a:lnTo>
                    <a:pt x="0" y="75184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880691">
              <a:off x="5609463" y="610381"/>
              <a:ext cx="2753896" cy="1451074"/>
            </a:xfrm>
            <a:custGeom>
              <a:avLst/>
              <a:gdLst/>
              <a:ahLst/>
              <a:cxnLst/>
              <a:rect r="r" b="b" t="t" l="l"/>
              <a:pathLst>
                <a:path h="1451074" w="2753896">
                  <a:moveTo>
                    <a:pt x="0" y="0"/>
                  </a:moveTo>
                  <a:lnTo>
                    <a:pt x="2753896" y="0"/>
                  </a:lnTo>
                  <a:lnTo>
                    <a:pt x="2753896" y="1451074"/>
                  </a:lnTo>
                  <a:lnTo>
                    <a:pt x="0" y="14510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5861734"/>
            <a:ext cx="18288000" cy="4425266"/>
            <a:chOff x="0" y="0"/>
            <a:chExt cx="7567569" cy="1831174"/>
          </a:xfrm>
        </p:grpSpPr>
        <p:sp>
          <p:nvSpPr>
            <p:cNvPr name="Freeform 3" id="3"/>
            <p:cNvSpPr/>
            <p:nvPr/>
          </p:nvSpPr>
          <p:spPr>
            <a:xfrm flipH="false" flipV="false" rot="0">
              <a:off x="0" y="0"/>
              <a:ext cx="7567569" cy="1831174"/>
            </a:xfrm>
            <a:custGeom>
              <a:avLst/>
              <a:gdLst/>
              <a:ahLst/>
              <a:cxnLst/>
              <a:rect r="r" b="b" t="t" l="l"/>
              <a:pathLst>
                <a:path h="1831174" w="7567569">
                  <a:moveTo>
                    <a:pt x="0" y="0"/>
                  </a:moveTo>
                  <a:lnTo>
                    <a:pt x="7567569" y="0"/>
                  </a:lnTo>
                  <a:lnTo>
                    <a:pt x="7567569" y="1831174"/>
                  </a:lnTo>
                  <a:lnTo>
                    <a:pt x="0" y="1831174"/>
                  </a:lnTo>
                  <a:close/>
                </a:path>
              </a:pathLst>
            </a:custGeom>
            <a:solidFill>
              <a:srgbClr val="FDC3C5"/>
            </a:solidFill>
          </p:spPr>
        </p:sp>
      </p:grpSp>
      <p:sp>
        <p:nvSpPr>
          <p:cNvPr name="TextBox 4" id="4"/>
          <p:cNvSpPr txBox="true"/>
          <p:nvPr/>
        </p:nvSpPr>
        <p:spPr>
          <a:xfrm rot="0">
            <a:off x="1028295" y="1838619"/>
            <a:ext cx="8773327" cy="2305685"/>
          </a:xfrm>
          <a:prstGeom prst="rect">
            <a:avLst/>
          </a:prstGeom>
        </p:spPr>
        <p:txBody>
          <a:bodyPr anchor="t" rtlCol="false" tIns="0" lIns="0" bIns="0" rIns="0">
            <a:spAutoFit/>
          </a:bodyPr>
          <a:lstStyle/>
          <a:p>
            <a:pPr algn="l" marL="0" indent="0" lvl="0">
              <a:lnSpc>
                <a:spcPts val="8274"/>
              </a:lnSpc>
              <a:spcBef>
                <a:spcPct val="0"/>
              </a:spcBef>
            </a:pPr>
            <a:r>
              <a:rPr lang="en-US" sz="8274">
                <a:solidFill>
                  <a:srgbClr val="FE502D"/>
                </a:solidFill>
                <a:latin typeface="Chunk Five"/>
                <a:ea typeface="Chunk Five"/>
                <a:cs typeface="Chunk Five"/>
                <a:sym typeface="Chunk Five"/>
              </a:rPr>
              <a:t>Ka</a:t>
            </a:r>
            <a:r>
              <a:rPr lang="en-US" sz="8274" u="none">
                <a:solidFill>
                  <a:srgbClr val="FE502D"/>
                </a:solidFill>
                <a:latin typeface="Chunk Five"/>
                <a:ea typeface="Chunk Five"/>
                <a:cs typeface="Chunk Five"/>
                <a:sym typeface="Chunk Five"/>
              </a:rPr>
              <a:t>rakteristik On-Premises</a:t>
            </a:r>
          </a:p>
        </p:txBody>
      </p:sp>
      <p:sp>
        <p:nvSpPr>
          <p:cNvPr name="TextBox 5" id="5"/>
          <p:cNvSpPr txBox="true"/>
          <p:nvPr/>
        </p:nvSpPr>
        <p:spPr>
          <a:xfrm rot="0">
            <a:off x="642660" y="7855508"/>
            <a:ext cx="3782654" cy="995681"/>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000000"/>
                </a:solidFill>
                <a:latin typeface="Roboto"/>
                <a:ea typeface="Roboto"/>
                <a:cs typeface="Roboto"/>
                <a:sym typeface="Roboto"/>
              </a:rPr>
              <a:t>D</a:t>
            </a:r>
            <a:r>
              <a:rPr lang="en-US" sz="2799" u="none">
                <a:solidFill>
                  <a:srgbClr val="000000"/>
                </a:solidFill>
                <a:latin typeface="Roboto"/>
                <a:ea typeface="Roboto"/>
                <a:cs typeface="Roboto"/>
                <a:sym typeface="Roboto"/>
              </a:rPr>
              <a:t>ikelola secara internal oleh perusahaan.</a:t>
            </a:r>
          </a:p>
        </p:txBody>
      </p:sp>
      <p:sp>
        <p:nvSpPr>
          <p:cNvPr name="TextBox 6" id="6"/>
          <p:cNvSpPr txBox="true"/>
          <p:nvPr/>
        </p:nvSpPr>
        <p:spPr>
          <a:xfrm rot="0">
            <a:off x="7148848" y="7855508"/>
            <a:ext cx="3990304" cy="995680"/>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000000"/>
                </a:solidFill>
                <a:latin typeface="Roboto"/>
                <a:ea typeface="Roboto"/>
                <a:cs typeface="Roboto"/>
                <a:sym typeface="Roboto"/>
              </a:rPr>
              <a:t>Be</a:t>
            </a:r>
            <a:r>
              <a:rPr lang="en-US" sz="2799" u="none">
                <a:solidFill>
                  <a:srgbClr val="000000"/>
                </a:solidFill>
                <a:latin typeface="Roboto"/>
                <a:ea typeface="Roboto"/>
                <a:cs typeface="Roboto"/>
                <a:sym typeface="Roboto"/>
              </a:rPr>
              <a:t>roperasi di lingkungan lokal (on-site).</a:t>
            </a:r>
          </a:p>
        </p:txBody>
      </p:sp>
      <p:sp>
        <p:nvSpPr>
          <p:cNvPr name="Freeform 7" id="7"/>
          <p:cNvSpPr/>
          <p:nvPr/>
        </p:nvSpPr>
        <p:spPr>
          <a:xfrm flipH="false" flipV="false" rot="0">
            <a:off x="8872331" y="6500651"/>
            <a:ext cx="543337" cy="713211"/>
          </a:xfrm>
          <a:custGeom>
            <a:avLst/>
            <a:gdLst/>
            <a:ahLst/>
            <a:cxnLst/>
            <a:rect r="r" b="b" t="t" l="l"/>
            <a:pathLst>
              <a:path h="713211" w="543337">
                <a:moveTo>
                  <a:pt x="0" y="0"/>
                </a:moveTo>
                <a:lnTo>
                  <a:pt x="543338" y="0"/>
                </a:lnTo>
                <a:lnTo>
                  <a:pt x="543338" y="713211"/>
                </a:lnTo>
                <a:lnTo>
                  <a:pt x="0" y="7132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3653510" y="7766608"/>
            <a:ext cx="3990304" cy="1490980"/>
          </a:xfrm>
          <a:prstGeom prst="rect">
            <a:avLst/>
          </a:prstGeom>
        </p:spPr>
        <p:txBody>
          <a:bodyPr anchor="t" rtlCol="false" tIns="0" lIns="0" bIns="0" rIns="0">
            <a:spAutoFit/>
          </a:bodyPr>
          <a:lstStyle/>
          <a:p>
            <a:pPr algn="just" marL="0" indent="0" lvl="0">
              <a:lnSpc>
                <a:spcPts val="3919"/>
              </a:lnSpc>
              <a:spcBef>
                <a:spcPct val="0"/>
              </a:spcBef>
            </a:pPr>
            <a:r>
              <a:rPr lang="en-US" sz="2799">
                <a:solidFill>
                  <a:srgbClr val="000000"/>
                </a:solidFill>
                <a:latin typeface="Roboto"/>
                <a:ea typeface="Roboto"/>
                <a:cs typeface="Roboto"/>
                <a:sym typeface="Roboto"/>
              </a:rPr>
              <a:t>T</a:t>
            </a:r>
            <a:r>
              <a:rPr lang="en-US" sz="2799" u="none">
                <a:solidFill>
                  <a:srgbClr val="000000"/>
                </a:solidFill>
                <a:latin typeface="Roboto"/>
                <a:ea typeface="Roboto"/>
                <a:cs typeface="Roboto"/>
                <a:sym typeface="Roboto"/>
              </a:rPr>
              <a:t>idak tergantung koneksi internet untuk fungsi dasar.</a:t>
            </a:r>
          </a:p>
        </p:txBody>
      </p:sp>
      <p:sp>
        <p:nvSpPr>
          <p:cNvPr name="Freeform 9" id="9"/>
          <p:cNvSpPr/>
          <p:nvPr/>
        </p:nvSpPr>
        <p:spPr>
          <a:xfrm flipH="false" flipV="false" rot="0">
            <a:off x="12634896" y="1028700"/>
            <a:ext cx="4005636" cy="3925523"/>
          </a:xfrm>
          <a:custGeom>
            <a:avLst/>
            <a:gdLst/>
            <a:ahLst/>
            <a:cxnLst/>
            <a:rect r="r" b="b" t="t" l="l"/>
            <a:pathLst>
              <a:path h="3925523" w="4005636">
                <a:moveTo>
                  <a:pt x="0" y="0"/>
                </a:moveTo>
                <a:lnTo>
                  <a:pt x="4005635" y="0"/>
                </a:lnTo>
                <a:lnTo>
                  <a:pt x="4005635" y="3925523"/>
                </a:lnTo>
                <a:lnTo>
                  <a:pt x="0" y="39255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880593" y="6500651"/>
            <a:ext cx="543337" cy="713211"/>
          </a:xfrm>
          <a:custGeom>
            <a:avLst/>
            <a:gdLst/>
            <a:ahLst/>
            <a:cxnLst/>
            <a:rect r="r" b="b" t="t" l="l"/>
            <a:pathLst>
              <a:path h="713211" w="543337">
                <a:moveTo>
                  <a:pt x="0" y="0"/>
                </a:moveTo>
                <a:lnTo>
                  <a:pt x="543337" y="0"/>
                </a:lnTo>
                <a:lnTo>
                  <a:pt x="543337" y="713211"/>
                </a:lnTo>
                <a:lnTo>
                  <a:pt x="0" y="7132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5376993" y="6500651"/>
            <a:ext cx="543337" cy="713211"/>
          </a:xfrm>
          <a:custGeom>
            <a:avLst/>
            <a:gdLst/>
            <a:ahLst/>
            <a:cxnLst/>
            <a:rect r="r" b="b" t="t" l="l"/>
            <a:pathLst>
              <a:path h="713211" w="543337">
                <a:moveTo>
                  <a:pt x="0" y="0"/>
                </a:moveTo>
                <a:lnTo>
                  <a:pt x="543337" y="0"/>
                </a:lnTo>
                <a:lnTo>
                  <a:pt x="543337" y="713211"/>
                </a:lnTo>
                <a:lnTo>
                  <a:pt x="0" y="7132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5861734"/>
            <a:ext cx="18288000" cy="4425266"/>
            <a:chOff x="0" y="0"/>
            <a:chExt cx="7567569" cy="1831174"/>
          </a:xfrm>
        </p:grpSpPr>
        <p:sp>
          <p:nvSpPr>
            <p:cNvPr name="Freeform 3" id="3"/>
            <p:cNvSpPr/>
            <p:nvPr/>
          </p:nvSpPr>
          <p:spPr>
            <a:xfrm flipH="false" flipV="false" rot="0">
              <a:off x="0" y="0"/>
              <a:ext cx="7567569" cy="1831174"/>
            </a:xfrm>
            <a:custGeom>
              <a:avLst/>
              <a:gdLst/>
              <a:ahLst/>
              <a:cxnLst/>
              <a:rect r="r" b="b" t="t" l="l"/>
              <a:pathLst>
                <a:path h="1831174" w="7567569">
                  <a:moveTo>
                    <a:pt x="0" y="0"/>
                  </a:moveTo>
                  <a:lnTo>
                    <a:pt x="7567569" y="0"/>
                  </a:lnTo>
                  <a:lnTo>
                    <a:pt x="7567569" y="1831174"/>
                  </a:lnTo>
                  <a:lnTo>
                    <a:pt x="0" y="1831174"/>
                  </a:lnTo>
                  <a:close/>
                </a:path>
              </a:pathLst>
            </a:custGeom>
            <a:solidFill>
              <a:srgbClr val="FDC3C5"/>
            </a:solidFill>
          </p:spPr>
        </p:sp>
      </p:grpSp>
      <p:sp>
        <p:nvSpPr>
          <p:cNvPr name="TextBox 4" id="4"/>
          <p:cNvSpPr txBox="true"/>
          <p:nvPr/>
        </p:nvSpPr>
        <p:spPr>
          <a:xfrm rot="0">
            <a:off x="1028295" y="1838619"/>
            <a:ext cx="8773327" cy="2305685"/>
          </a:xfrm>
          <a:prstGeom prst="rect">
            <a:avLst/>
          </a:prstGeom>
        </p:spPr>
        <p:txBody>
          <a:bodyPr anchor="t" rtlCol="false" tIns="0" lIns="0" bIns="0" rIns="0">
            <a:spAutoFit/>
          </a:bodyPr>
          <a:lstStyle/>
          <a:p>
            <a:pPr algn="l" marL="0" indent="0" lvl="0">
              <a:lnSpc>
                <a:spcPts val="8274"/>
              </a:lnSpc>
              <a:spcBef>
                <a:spcPct val="0"/>
              </a:spcBef>
            </a:pPr>
            <a:r>
              <a:rPr lang="en-US" sz="8274">
                <a:solidFill>
                  <a:srgbClr val="FE502D"/>
                </a:solidFill>
                <a:latin typeface="Chunk Five"/>
                <a:ea typeface="Chunk Five"/>
                <a:cs typeface="Chunk Five"/>
                <a:sym typeface="Chunk Five"/>
              </a:rPr>
              <a:t>K</a:t>
            </a:r>
            <a:r>
              <a:rPr lang="en-US" sz="8274" u="none">
                <a:solidFill>
                  <a:srgbClr val="FE502D"/>
                </a:solidFill>
                <a:latin typeface="Chunk Five"/>
                <a:ea typeface="Chunk Five"/>
                <a:cs typeface="Chunk Five"/>
                <a:sym typeface="Chunk Five"/>
              </a:rPr>
              <a:t>euntungan On-Premises</a:t>
            </a:r>
          </a:p>
        </p:txBody>
      </p:sp>
      <p:sp>
        <p:nvSpPr>
          <p:cNvPr name="TextBox 5" id="5"/>
          <p:cNvSpPr txBox="true"/>
          <p:nvPr/>
        </p:nvSpPr>
        <p:spPr>
          <a:xfrm rot="0">
            <a:off x="642660" y="7855508"/>
            <a:ext cx="3782654" cy="995681"/>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000000"/>
                </a:solidFill>
                <a:latin typeface="Roboto"/>
                <a:ea typeface="Roboto"/>
                <a:cs typeface="Roboto"/>
                <a:sym typeface="Roboto"/>
              </a:rPr>
              <a:t>A</a:t>
            </a:r>
            <a:r>
              <a:rPr lang="en-US" sz="2799" u="none">
                <a:solidFill>
                  <a:srgbClr val="000000"/>
                </a:solidFill>
                <a:latin typeface="Roboto"/>
                <a:ea typeface="Roboto"/>
                <a:cs typeface="Roboto"/>
                <a:sym typeface="Roboto"/>
              </a:rPr>
              <a:t>kses penuh terhadap data dan infrastruktur.</a:t>
            </a:r>
          </a:p>
        </p:txBody>
      </p:sp>
      <p:sp>
        <p:nvSpPr>
          <p:cNvPr name="TextBox 6" id="6"/>
          <p:cNvSpPr txBox="true"/>
          <p:nvPr/>
        </p:nvSpPr>
        <p:spPr>
          <a:xfrm rot="0">
            <a:off x="7148848" y="7855508"/>
            <a:ext cx="3990304" cy="1490980"/>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000000"/>
                </a:solidFill>
                <a:latin typeface="Roboto"/>
                <a:ea typeface="Roboto"/>
                <a:cs typeface="Roboto"/>
                <a:sym typeface="Roboto"/>
              </a:rPr>
              <a:t>Cocok untuk </a:t>
            </a:r>
            <a:r>
              <a:rPr lang="en-US" sz="2799" u="none">
                <a:solidFill>
                  <a:srgbClr val="000000"/>
                </a:solidFill>
                <a:latin typeface="Roboto"/>
                <a:ea typeface="Roboto"/>
                <a:cs typeface="Roboto"/>
                <a:sym typeface="Roboto"/>
              </a:rPr>
              <a:t>organisasi dengan data sangat sensitif.</a:t>
            </a:r>
          </a:p>
        </p:txBody>
      </p:sp>
      <p:sp>
        <p:nvSpPr>
          <p:cNvPr name="Freeform 7" id="7"/>
          <p:cNvSpPr/>
          <p:nvPr/>
        </p:nvSpPr>
        <p:spPr>
          <a:xfrm flipH="false" flipV="false" rot="0">
            <a:off x="8872331" y="6500651"/>
            <a:ext cx="543337" cy="713211"/>
          </a:xfrm>
          <a:custGeom>
            <a:avLst/>
            <a:gdLst/>
            <a:ahLst/>
            <a:cxnLst/>
            <a:rect r="r" b="b" t="t" l="l"/>
            <a:pathLst>
              <a:path h="713211" w="543337">
                <a:moveTo>
                  <a:pt x="0" y="0"/>
                </a:moveTo>
                <a:lnTo>
                  <a:pt x="543338" y="0"/>
                </a:lnTo>
                <a:lnTo>
                  <a:pt x="543338" y="713211"/>
                </a:lnTo>
                <a:lnTo>
                  <a:pt x="0" y="7132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3653510" y="7766608"/>
            <a:ext cx="4257282" cy="1490980"/>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000000"/>
                </a:solidFill>
                <a:latin typeface="Roboto"/>
                <a:ea typeface="Roboto"/>
                <a:cs typeface="Roboto"/>
                <a:sym typeface="Roboto"/>
              </a:rPr>
              <a:t>D</a:t>
            </a:r>
            <a:r>
              <a:rPr lang="en-US" sz="2799" u="none">
                <a:solidFill>
                  <a:srgbClr val="000000"/>
                </a:solidFill>
                <a:latin typeface="Roboto"/>
                <a:ea typeface="Roboto"/>
                <a:cs typeface="Roboto"/>
                <a:sym typeface="Roboto"/>
              </a:rPr>
              <a:t>apat disesuaikan dengan kebutuhan organisasi secara spesifik.</a:t>
            </a:r>
          </a:p>
        </p:txBody>
      </p:sp>
      <p:sp>
        <p:nvSpPr>
          <p:cNvPr name="Freeform 9" id="9"/>
          <p:cNvSpPr/>
          <p:nvPr/>
        </p:nvSpPr>
        <p:spPr>
          <a:xfrm flipH="false" flipV="false" rot="0">
            <a:off x="12634896" y="1028700"/>
            <a:ext cx="4005636" cy="3925523"/>
          </a:xfrm>
          <a:custGeom>
            <a:avLst/>
            <a:gdLst/>
            <a:ahLst/>
            <a:cxnLst/>
            <a:rect r="r" b="b" t="t" l="l"/>
            <a:pathLst>
              <a:path h="3925523" w="4005636">
                <a:moveTo>
                  <a:pt x="0" y="0"/>
                </a:moveTo>
                <a:lnTo>
                  <a:pt x="4005635" y="0"/>
                </a:lnTo>
                <a:lnTo>
                  <a:pt x="4005635" y="3925523"/>
                </a:lnTo>
                <a:lnTo>
                  <a:pt x="0" y="39255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880593" y="6500651"/>
            <a:ext cx="543337" cy="713211"/>
          </a:xfrm>
          <a:custGeom>
            <a:avLst/>
            <a:gdLst/>
            <a:ahLst/>
            <a:cxnLst/>
            <a:rect r="r" b="b" t="t" l="l"/>
            <a:pathLst>
              <a:path h="713211" w="543337">
                <a:moveTo>
                  <a:pt x="0" y="0"/>
                </a:moveTo>
                <a:lnTo>
                  <a:pt x="543337" y="0"/>
                </a:lnTo>
                <a:lnTo>
                  <a:pt x="543337" y="713211"/>
                </a:lnTo>
                <a:lnTo>
                  <a:pt x="0" y="7132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5376993" y="6500651"/>
            <a:ext cx="543337" cy="713211"/>
          </a:xfrm>
          <a:custGeom>
            <a:avLst/>
            <a:gdLst/>
            <a:ahLst/>
            <a:cxnLst/>
            <a:rect r="r" b="b" t="t" l="l"/>
            <a:pathLst>
              <a:path h="713211" w="543337">
                <a:moveTo>
                  <a:pt x="0" y="0"/>
                </a:moveTo>
                <a:lnTo>
                  <a:pt x="543337" y="0"/>
                </a:lnTo>
                <a:lnTo>
                  <a:pt x="543337" y="713211"/>
                </a:lnTo>
                <a:lnTo>
                  <a:pt x="0" y="7132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5861734"/>
            <a:ext cx="18288000" cy="4425266"/>
            <a:chOff x="0" y="0"/>
            <a:chExt cx="7567569" cy="1831174"/>
          </a:xfrm>
        </p:grpSpPr>
        <p:sp>
          <p:nvSpPr>
            <p:cNvPr name="Freeform 3" id="3"/>
            <p:cNvSpPr/>
            <p:nvPr/>
          </p:nvSpPr>
          <p:spPr>
            <a:xfrm flipH="false" flipV="false" rot="0">
              <a:off x="0" y="0"/>
              <a:ext cx="7567569" cy="1831174"/>
            </a:xfrm>
            <a:custGeom>
              <a:avLst/>
              <a:gdLst/>
              <a:ahLst/>
              <a:cxnLst/>
              <a:rect r="r" b="b" t="t" l="l"/>
              <a:pathLst>
                <a:path h="1831174" w="7567569">
                  <a:moveTo>
                    <a:pt x="0" y="0"/>
                  </a:moveTo>
                  <a:lnTo>
                    <a:pt x="7567569" y="0"/>
                  </a:lnTo>
                  <a:lnTo>
                    <a:pt x="7567569" y="1831174"/>
                  </a:lnTo>
                  <a:lnTo>
                    <a:pt x="0" y="1831174"/>
                  </a:lnTo>
                  <a:close/>
                </a:path>
              </a:pathLst>
            </a:custGeom>
            <a:solidFill>
              <a:srgbClr val="FDC3C5"/>
            </a:solidFill>
          </p:spPr>
        </p:sp>
      </p:grpSp>
      <p:sp>
        <p:nvSpPr>
          <p:cNvPr name="TextBox 4" id="4"/>
          <p:cNvSpPr txBox="true"/>
          <p:nvPr/>
        </p:nvSpPr>
        <p:spPr>
          <a:xfrm rot="0">
            <a:off x="1028295" y="1838619"/>
            <a:ext cx="8773327" cy="2305685"/>
          </a:xfrm>
          <a:prstGeom prst="rect">
            <a:avLst/>
          </a:prstGeom>
        </p:spPr>
        <p:txBody>
          <a:bodyPr anchor="t" rtlCol="false" tIns="0" lIns="0" bIns="0" rIns="0">
            <a:spAutoFit/>
          </a:bodyPr>
          <a:lstStyle/>
          <a:p>
            <a:pPr algn="l" marL="0" indent="0" lvl="0">
              <a:lnSpc>
                <a:spcPts val="8274"/>
              </a:lnSpc>
              <a:spcBef>
                <a:spcPct val="0"/>
              </a:spcBef>
            </a:pPr>
            <a:r>
              <a:rPr lang="en-US" sz="8274">
                <a:solidFill>
                  <a:srgbClr val="FE502D"/>
                </a:solidFill>
                <a:latin typeface="Chunk Five"/>
                <a:ea typeface="Chunk Five"/>
                <a:cs typeface="Chunk Five"/>
                <a:sym typeface="Chunk Five"/>
              </a:rPr>
              <a:t>K</a:t>
            </a:r>
            <a:r>
              <a:rPr lang="en-US" sz="8274" u="none">
                <a:solidFill>
                  <a:srgbClr val="FE502D"/>
                </a:solidFill>
                <a:latin typeface="Chunk Five"/>
                <a:ea typeface="Chunk Five"/>
                <a:cs typeface="Chunk Five"/>
                <a:sym typeface="Chunk Five"/>
              </a:rPr>
              <a:t>elemahan On-Premises</a:t>
            </a:r>
          </a:p>
        </p:txBody>
      </p:sp>
      <p:sp>
        <p:nvSpPr>
          <p:cNvPr name="TextBox 5" id="5"/>
          <p:cNvSpPr txBox="true"/>
          <p:nvPr/>
        </p:nvSpPr>
        <p:spPr>
          <a:xfrm rot="0">
            <a:off x="642660" y="7855508"/>
            <a:ext cx="3782654" cy="1490981"/>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000000"/>
                </a:solidFill>
                <a:latin typeface="Roboto"/>
                <a:ea typeface="Roboto"/>
                <a:cs typeface="Roboto"/>
                <a:sym typeface="Roboto"/>
              </a:rPr>
              <a:t>Inv</a:t>
            </a:r>
            <a:r>
              <a:rPr lang="en-US" sz="2799" u="none">
                <a:solidFill>
                  <a:srgbClr val="000000"/>
                </a:solidFill>
                <a:latin typeface="Roboto"/>
                <a:ea typeface="Roboto"/>
                <a:cs typeface="Roboto"/>
                <a:sym typeface="Roboto"/>
              </a:rPr>
              <a:t>estasi awal besar (server, lisensi, ruang server, dll).</a:t>
            </a:r>
          </a:p>
        </p:txBody>
      </p:sp>
      <p:sp>
        <p:nvSpPr>
          <p:cNvPr name="TextBox 6" id="6"/>
          <p:cNvSpPr txBox="true"/>
          <p:nvPr/>
        </p:nvSpPr>
        <p:spPr>
          <a:xfrm rot="0">
            <a:off x="7148848" y="7855508"/>
            <a:ext cx="3990304" cy="995680"/>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000000"/>
                </a:solidFill>
                <a:latin typeface="Roboto"/>
                <a:ea typeface="Roboto"/>
                <a:cs typeface="Roboto"/>
                <a:sym typeface="Roboto"/>
              </a:rPr>
              <a:t>Membutuhk</a:t>
            </a:r>
            <a:r>
              <a:rPr lang="en-US" sz="2799" u="none">
                <a:solidFill>
                  <a:srgbClr val="000000"/>
                </a:solidFill>
                <a:latin typeface="Roboto"/>
                <a:ea typeface="Roboto"/>
                <a:cs typeface="Roboto"/>
                <a:sym typeface="Roboto"/>
              </a:rPr>
              <a:t>an tim TI dan perawatan rutin.</a:t>
            </a:r>
          </a:p>
        </p:txBody>
      </p:sp>
      <p:sp>
        <p:nvSpPr>
          <p:cNvPr name="Freeform 7" id="7"/>
          <p:cNvSpPr/>
          <p:nvPr/>
        </p:nvSpPr>
        <p:spPr>
          <a:xfrm flipH="false" flipV="false" rot="0">
            <a:off x="8872331" y="6500651"/>
            <a:ext cx="543337" cy="713211"/>
          </a:xfrm>
          <a:custGeom>
            <a:avLst/>
            <a:gdLst/>
            <a:ahLst/>
            <a:cxnLst/>
            <a:rect r="r" b="b" t="t" l="l"/>
            <a:pathLst>
              <a:path h="713211" w="543337">
                <a:moveTo>
                  <a:pt x="0" y="0"/>
                </a:moveTo>
                <a:lnTo>
                  <a:pt x="543338" y="0"/>
                </a:lnTo>
                <a:lnTo>
                  <a:pt x="543338" y="713211"/>
                </a:lnTo>
                <a:lnTo>
                  <a:pt x="0" y="7132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3653510" y="7766608"/>
            <a:ext cx="4257282" cy="995680"/>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000000"/>
                </a:solidFill>
                <a:latin typeface="Roboto"/>
                <a:ea typeface="Roboto"/>
                <a:cs typeface="Roboto"/>
                <a:sym typeface="Roboto"/>
              </a:rPr>
              <a:t>Suli</a:t>
            </a:r>
            <a:r>
              <a:rPr lang="en-US" sz="2799" u="none">
                <a:solidFill>
                  <a:srgbClr val="000000"/>
                </a:solidFill>
                <a:latin typeface="Roboto"/>
                <a:ea typeface="Roboto"/>
                <a:cs typeface="Roboto"/>
                <a:sym typeface="Roboto"/>
              </a:rPr>
              <a:t>t untuk scaling up/down secara cepat.</a:t>
            </a:r>
          </a:p>
        </p:txBody>
      </p:sp>
      <p:sp>
        <p:nvSpPr>
          <p:cNvPr name="Freeform 9" id="9"/>
          <p:cNvSpPr/>
          <p:nvPr/>
        </p:nvSpPr>
        <p:spPr>
          <a:xfrm flipH="false" flipV="false" rot="0">
            <a:off x="12634896" y="1028700"/>
            <a:ext cx="4005636" cy="3925523"/>
          </a:xfrm>
          <a:custGeom>
            <a:avLst/>
            <a:gdLst/>
            <a:ahLst/>
            <a:cxnLst/>
            <a:rect r="r" b="b" t="t" l="l"/>
            <a:pathLst>
              <a:path h="3925523" w="4005636">
                <a:moveTo>
                  <a:pt x="0" y="0"/>
                </a:moveTo>
                <a:lnTo>
                  <a:pt x="4005635" y="0"/>
                </a:lnTo>
                <a:lnTo>
                  <a:pt x="4005635" y="3925523"/>
                </a:lnTo>
                <a:lnTo>
                  <a:pt x="0" y="39255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880593" y="6500651"/>
            <a:ext cx="543337" cy="713211"/>
          </a:xfrm>
          <a:custGeom>
            <a:avLst/>
            <a:gdLst/>
            <a:ahLst/>
            <a:cxnLst/>
            <a:rect r="r" b="b" t="t" l="l"/>
            <a:pathLst>
              <a:path h="713211" w="543337">
                <a:moveTo>
                  <a:pt x="0" y="0"/>
                </a:moveTo>
                <a:lnTo>
                  <a:pt x="543337" y="0"/>
                </a:lnTo>
                <a:lnTo>
                  <a:pt x="543337" y="713211"/>
                </a:lnTo>
                <a:lnTo>
                  <a:pt x="0" y="7132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5376993" y="6500651"/>
            <a:ext cx="543337" cy="713211"/>
          </a:xfrm>
          <a:custGeom>
            <a:avLst/>
            <a:gdLst/>
            <a:ahLst/>
            <a:cxnLst/>
            <a:rect r="r" b="b" t="t" l="l"/>
            <a:pathLst>
              <a:path h="713211" w="543337">
                <a:moveTo>
                  <a:pt x="0" y="0"/>
                </a:moveTo>
                <a:lnTo>
                  <a:pt x="543337" y="0"/>
                </a:lnTo>
                <a:lnTo>
                  <a:pt x="543337" y="713211"/>
                </a:lnTo>
                <a:lnTo>
                  <a:pt x="0" y="7132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150399" y="1878999"/>
            <a:ext cx="8349572" cy="2366045"/>
          </a:xfrm>
          <a:prstGeom prst="rect">
            <a:avLst/>
          </a:prstGeom>
        </p:spPr>
        <p:txBody>
          <a:bodyPr anchor="t" rtlCol="false" tIns="0" lIns="0" bIns="0" rIns="0">
            <a:spAutoFit/>
          </a:bodyPr>
          <a:lstStyle/>
          <a:p>
            <a:pPr algn="l" marL="0" indent="0" lvl="0">
              <a:lnSpc>
                <a:spcPts val="8499"/>
              </a:lnSpc>
              <a:spcBef>
                <a:spcPct val="0"/>
              </a:spcBef>
            </a:pPr>
            <a:r>
              <a:rPr lang="en-US" sz="8499" u="none">
                <a:solidFill>
                  <a:srgbClr val="FE502D"/>
                </a:solidFill>
                <a:latin typeface="Chunk Five"/>
                <a:ea typeface="Chunk Five"/>
                <a:cs typeface="Chunk Five"/>
                <a:sym typeface="Chunk Five"/>
              </a:rPr>
              <a:t>B. Infrastruktur Cloud</a:t>
            </a:r>
          </a:p>
        </p:txBody>
      </p:sp>
      <p:grpSp>
        <p:nvGrpSpPr>
          <p:cNvPr name="Group 3" id="3"/>
          <p:cNvGrpSpPr/>
          <p:nvPr/>
        </p:nvGrpSpPr>
        <p:grpSpPr>
          <a:xfrm rot="0">
            <a:off x="11626988" y="1137435"/>
            <a:ext cx="6661012" cy="3849174"/>
            <a:chOff x="0" y="0"/>
            <a:chExt cx="8881349" cy="5132233"/>
          </a:xfrm>
        </p:grpSpPr>
        <p:sp>
          <p:nvSpPr>
            <p:cNvPr name="Freeform 4" id="4"/>
            <p:cNvSpPr/>
            <p:nvPr/>
          </p:nvSpPr>
          <p:spPr>
            <a:xfrm flipH="false" flipV="false" rot="0">
              <a:off x="0" y="0"/>
              <a:ext cx="7006253" cy="4241968"/>
            </a:xfrm>
            <a:custGeom>
              <a:avLst/>
              <a:gdLst/>
              <a:ahLst/>
              <a:cxnLst/>
              <a:rect r="r" b="b" t="t" l="l"/>
              <a:pathLst>
                <a:path h="4241968" w="7006253">
                  <a:moveTo>
                    <a:pt x="0" y="0"/>
                  </a:moveTo>
                  <a:lnTo>
                    <a:pt x="7006253" y="0"/>
                  </a:lnTo>
                  <a:lnTo>
                    <a:pt x="7006253" y="4241968"/>
                  </a:lnTo>
                  <a:lnTo>
                    <a:pt x="0" y="42419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628992">
              <a:off x="5188798" y="4526823"/>
              <a:ext cx="3682045" cy="514186"/>
            </a:xfrm>
            <a:custGeom>
              <a:avLst/>
              <a:gdLst/>
              <a:ahLst/>
              <a:cxnLst/>
              <a:rect r="r" b="b" t="t" l="l"/>
              <a:pathLst>
                <a:path h="514186" w="3682045">
                  <a:moveTo>
                    <a:pt x="0" y="0"/>
                  </a:moveTo>
                  <a:lnTo>
                    <a:pt x="3682045" y="0"/>
                  </a:lnTo>
                  <a:lnTo>
                    <a:pt x="3682045" y="514186"/>
                  </a:lnTo>
                  <a:lnTo>
                    <a:pt x="0" y="5141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6" id="6"/>
          <p:cNvSpPr txBox="true"/>
          <p:nvPr/>
        </p:nvSpPr>
        <p:spPr>
          <a:xfrm rot="0">
            <a:off x="1150399" y="5067300"/>
            <a:ext cx="8969439" cy="2983694"/>
          </a:xfrm>
          <a:prstGeom prst="rect">
            <a:avLst/>
          </a:prstGeom>
        </p:spPr>
        <p:txBody>
          <a:bodyPr anchor="t" rtlCol="false" tIns="0" lIns="0" bIns="0" rIns="0">
            <a:spAutoFit/>
          </a:bodyPr>
          <a:lstStyle/>
          <a:p>
            <a:pPr algn="l" marL="0" indent="0" lvl="0">
              <a:lnSpc>
                <a:spcPts val="4792"/>
              </a:lnSpc>
            </a:pPr>
            <a:r>
              <a:rPr lang="en-US" sz="3447" spc="-68">
                <a:solidFill>
                  <a:srgbClr val="000000"/>
                </a:solidFill>
                <a:latin typeface="Roboto"/>
                <a:ea typeface="Roboto"/>
                <a:cs typeface="Roboto"/>
                <a:sym typeface="Roboto"/>
              </a:rPr>
              <a:t>Infrastr</a:t>
            </a:r>
            <a:r>
              <a:rPr lang="en-US" sz="3447" spc="-68" u="none">
                <a:solidFill>
                  <a:srgbClr val="000000"/>
                </a:solidFill>
                <a:latin typeface="Roboto"/>
                <a:ea typeface="Roboto"/>
                <a:cs typeface="Roboto"/>
                <a:sym typeface="Roboto"/>
              </a:rPr>
              <a:t>uktur Cloud adalah penyediaan layanan komputasi (seperti server, storage, database, jaringan, perangkat lunak) melalui internet (“cloud”), berbasis langganan atau sesuai penggunaan.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DC3C5"/>
        </a:solidFill>
      </p:bgPr>
    </p:bg>
    <p:spTree>
      <p:nvGrpSpPr>
        <p:cNvPr id="1" name=""/>
        <p:cNvGrpSpPr/>
        <p:nvPr/>
      </p:nvGrpSpPr>
      <p:grpSpPr>
        <a:xfrm>
          <a:off x="0" y="0"/>
          <a:ext cx="0" cy="0"/>
          <a:chOff x="0" y="0"/>
          <a:chExt cx="0" cy="0"/>
        </a:xfrm>
      </p:grpSpPr>
      <p:grpSp>
        <p:nvGrpSpPr>
          <p:cNvPr name="Group 2" id="2"/>
          <p:cNvGrpSpPr/>
          <p:nvPr/>
        </p:nvGrpSpPr>
        <p:grpSpPr>
          <a:xfrm rot="0">
            <a:off x="9554528" y="1397945"/>
            <a:ext cx="7241120" cy="7241120"/>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sp>
        <p:nvSpPr>
          <p:cNvPr name="Freeform 4" id="4"/>
          <p:cNvSpPr/>
          <p:nvPr/>
        </p:nvSpPr>
        <p:spPr>
          <a:xfrm flipH="false" flipV="false" rot="-10628992">
            <a:off x="14454001" y="7331366"/>
            <a:ext cx="2334984" cy="326073"/>
          </a:xfrm>
          <a:custGeom>
            <a:avLst/>
            <a:gdLst/>
            <a:ahLst/>
            <a:cxnLst/>
            <a:rect r="r" b="b" t="t" l="l"/>
            <a:pathLst>
              <a:path h="326073" w="2334984">
                <a:moveTo>
                  <a:pt x="0" y="0"/>
                </a:moveTo>
                <a:lnTo>
                  <a:pt x="2334984" y="0"/>
                </a:lnTo>
                <a:lnTo>
                  <a:pt x="2334984" y="326073"/>
                </a:lnTo>
                <a:lnTo>
                  <a:pt x="0" y="3260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621972" y="3532250"/>
            <a:ext cx="5487231" cy="3222501"/>
          </a:xfrm>
          <a:custGeom>
            <a:avLst/>
            <a:gdLst/>
            <a:ahLst/>
            <a:cxnLst/>
            <a:rect r="r" b="b" t="t" l="l"/>
            <a:pathLst>
              <a:path h="3222501" w="5487231">
                <a:moveTo>
                  <a:pt x="0" y="0"/>
                </a:moveTo>
                <a:lnTo>
                  <a:pt x="5487231" y="0"/>
                </a:lnTo>
                <a:lnTo>
                  <a:pt x="5487231" y="3222500"/>
                </a:lnTo>
                <a:lnTo>
                  <a:pt x="0" y="32225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879380">
            <a:off x="10260073" y="1727897"/>
            <a:ext cx="2187457" cy="1152608"/>
          </a:xfrm>
          <a:custGeom>
            <a:avLst/>
            <a:gdLst/>
            <a:ahLst/>
            <a:cxnLst/>
            <a:rect r="r" b="b" t="t" l="l"/>
            <a:pathLst>
              <a:path h="1152608" w="2187457">
                <a:moveTo>
                  <a:pt x="0" y="0"/>
                </a:moveTo>
                <a:lnTo>
                  <a:pt x="2187457" y="0"/>
                </a:lnTo>
                <a:lnTo>
                  <a:pt x="2187457" y="1152608"/>
                </a:lnTo>
                <a:lnTo>
                  <a:pt x="0" y="11526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1379648" y="1243305"/>
            <a:ext cx="8174880" cy="2364728"/>
          </a:xfrm>
          <a:prstGeom prst="rect">
            <a:avLst/>
          </a:prstGeom>
        </p:spPr>
        <p:txBody>
          <a:bodyPr anchor="t" rtlCol="false" tIns="0" lIns="0" bIns="0" rIns="0">
            <a:spAutoFit/>
          </a:bodyPr>
          <a:lstStyle/>
          <a:p>
            <a:pPr algn="l" marL="0" indent="0" lvl="0">
              <a:lnSpc>
                <a:spcPts val="8499"/>
              </a:lnSpc>
              <a:spcBef>
                <a:spcPct val="0"/>
              </a:spcBef>
            </a:pPr>
            <a:r>
              <a:rPr lang="en-US" sz="8499">
                <a:solidFill>
                  <a:srgbClr val="FFFFFF"/>
                </a:solidFill>
                <a:latin typeface="Chunk Five"/>
                <a:ea typeface="Chunk Five"/>
                <a:cs typeface="Chunk Five"/>
                <a:sym typeface="Chunk Five"/>
              </a:rPr>
              <a:t>M</a:t>
            </a:r>
            <a:r>
              <a:rPr lang="en-US" sz="8499" u="none">
                <a:solidFill>
                  <a:srgbClr val="FFFFFF"/>
                </a:solidFill>
                <a:latin typeface="Chunk Five"/>
                <a:ea typeface="Chunk Five"/>
                <a:cs typeface="Chunk Five"/>
                <a:sym typeface="Chunk Five"/>
              </a:rPr>
              <a:t>odel Layanan Cloud</a:t>
            </a:r>
          </a:p>
        </p:txBody>
      </p:sp>
      <p:sp>
        <p:nvSpPr>
          <p:cNvPr name="TextBox 8" id="8"/>
          <p:cNvSpPr txBox="true"/>
          <p:nvPr/>
        </p:nvSpPr>
        <p:spPr>
          <a:xfrm rot="0">
            <a:off x="1379648" y="4544315"/>
            <a:ext cx="7445369" cy="4392295"/>
          </a:xfrm>
          <a:prstGeom prst="rect">
            <a:avLst/>
          </a:prstGeom>
        </p:spPr>
        <p:txBody>
          <a:bodyPr anchor="t" rtlCol="false" tIns="0" lIns="0" bIns="0" rIns="0">
            <a:spAutoFit/>
          </a:bodyPr>
          <a:lstStyle/>
          <a:p>
            <a:pPr algn="l" marL="604518" indent="-302259" lvl="1">
              <a:lnSpc>
                <a:spcPts val="3499"/>
              </a:lnSpc>
              <a:spcBef>
                <a:spcPct val="0"/>
              </a:spcBef>
              <a:buFont typeface="Arial"/>
              <a:buChar char="•"/>
            </a:pPr>
            <a:r>
              <a:rPr lang="en-US" sz="2799" spc="-55">
                <a:solidFill>
                  <a:srgbClr val="000000"/>
                </a:solidFill>
                <a:latin typeface="Roboto"/>
                <a:ea typeface="Roboto"/>
                <a:cs typeface="Roboto"/>
                <a:sym typeface="Roboto"/>
              </a:rPr>
              <a:t>I</a:t>
            </a:r>
            <a:r>
              <a:rPr lang="en-US" sz="2799" spc="-55" u="none">
                <a:solidFill>
                  <a:srgbClr val="000000"/>
                </a:solidFill>
                <a:latin typeface="Roboto"/>
                <a:ea typeface="Roboto"/>
                <a:cs typeface="Roboto"/>
                <a:sym typeface="Roboto"/>
              </a:rPr>
              <a:t>aaS (Infrastructure as a Service): Pengguna menyewa infrastruktur virtual (misalnya: Amazon EC2, Google Compute Engine).</a:t>
            </a:r>
          </a:p>
          <a:p>
            <a:pPr algn="l" marL="604518" indent="-302259" lvl="1">
              <a:lnSpc>
                <a:spcPts val="3499"/>
              </a:lnSpc>
              <a:spcBef>
                <a:spcPct val="0"/>
              </a:spcBef>
              <a:buFont typeface="Arial"/>
              <a:buChar char="•"/>
            </a:pPr>
            <a:r>
              <a:rPr lang="en-US" sz="2799" spc="-55" u="none">
                <a:solidFill>
                  <a:srgbClr val="000000"/>
                </a:solidFill>
                <a:latin typeface="Roboto"/>
                <a:ea typeface="Roboto"/>
                <a:cs typeface="Roboto"/>
                <a:sym typeface="Roboto"/>
              </a:rPr>
              <a:t>PaaS (Platform as a Service): Layanan platform untuk membangun aplikasi (contoh: Google App Engine, Heroku).</a:t>
            </a:r>
          </a:p>
          <a:p>
            <a:pPr algn="l" marL="604518" indent="-302259" lvl="1">
              <a:lnSpc>
                <a:spcPts val="3499"/>
              </a:lnSpc>
              <a:spcBef>
                <a:spcPct val="0"/>
              </a:spcBef>
              <a:buFont typeface="Arial"/>
              <a:buChar char="•"/>
            </a:pPr>
            <a:r>
              <a:rPr lang="en-US" sz="2799" spc="-55" u="none">
                <a:solidFill>
                  <a:srgbClr val="000000"/>
                </a:solidFill>
                <a:latin typeface="Roboto"/>
                <a:ea typeface="Roboto"/>
                <a:cs typeface="Roboto"/>
                <a:sym typeface="Roboto"/>
              </a:rPr>
              <a:t>SaaS (Software as a Service): Akses ke aplikasi tanpa instalasi (contoh: Gmail, Zoom, Google Docs).</a:t>
            </a:r>
          </a:p>
          <a:p>
            <a:pPr algn="l" marL="0" indent="0" lvl="0">
              <a:lnSpc>
                <a:spcPts val="3499"/>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18288000" cy="6462743"/>
          </a:xfrm>
          <a:prstGeom prst="rect">
            <a:avLst/>
          </a:prstGeom>
          <a:solidFill>
            <a:srgbClr val="FDC3C5"/>
          </a:solidFill>
        </p:spPr>
      </p:sp>
      <p:sp>
        <p:nvSpPr>
          <p:cNvPr name="TextBox 3" id="3"/>
          <p:cNvSpPr txBox="true"/>
          <p:nvPr/>
        </p:nvSpPr>
        <p:spPr>
          <a:xfrm rot="0">
            <a:off x="1009650" y="8199120"/>
            <a:ext cx="4721028" cy="834390"/>
          </a:xfrm>
          <a:prstGeom prst="rect">
            <a:avLst/>
          </a:prstGeom>
        </p:spPr>
        <p:txBody>
          <a:bodyPr anchor="t" rtlCol="false" tIns="0" lIns="0" bIns="0" rIns="0">
            <a:spAutoFit/>
          </a:bodyPr>
          <a:lstStyle/>
          <a:p>
            <a:pPr algn="l" marL="0" indent="0" lvl="0">
              <a:lnSpc>
                <a:spcPts val="3359"/>
              </a:lnSpc>
              <a:spcBef>
                <a:spcPct val="0"/>
              </a:spcBef>
            </a:pPr>
            <a:r>
              <a:rPr lang="en-US" sz="2399">
                <a:solidFill>
                  <a:srgbClr val="000000"/>
                </a:solidFill>
                <a:latin typeface="Roboto"/>
                <a:ea typeface="Roboto"/>
                <a:cs typeface="Roboto"/>
                <a:sym typeface="Roboto"/>
              </a:rPr>
              <a:t>Sumb</a:t>
            </a:r>
            <a:r>
              <a:rPr lang="en-US" sz="2399" u="none">
                <a:solidFill>
                  <a:srgbClr val="000000"/>
                </a:solidFill>
                <a:latin typeface="Roboto"/>
                <a:ea typeface="Roboto"/>
                <a:cs typeface="Roboto"/>
                <a:sym typeface="Roboto"/>
              </a:rPr>
              <a:t>er daya bisa ditambah atau dikurangi sesuai kebutuhan.</a:t>
            </a:r>
          </a:p>
        </p:txBody>
      </p:sp>
      <p:sp>
        <p:nvSpPr>
          <p:cNvPr name="Freeform 4" id="4"/>
          <p:cNvSpPr/>
          <p:nvPr/>
        </p:nvSpPr>
        <p:spPr>
          <a:xfrm flipH="false" flipV="false" rot="0">
            <a:off x="2057837" y="6858783"/>
            <a:ext cx="475906" cy="713211"/>
          </a:xfrm>
          <a:custGeom>
            <a:avLst/>
            <a:gdLst/>
            <a:ahLst/>
            <a:cxnLst/>
            <a:rect r="r" b="b" t="t" l="l"/>
            <a:pathLst>
              <a:path h="713211" w="475906">
                <a:moveTo>
                  <a:pt x="0" y="0"/>
                </a:moveTo>
                <a:lnTo>
                  <a:pt x="475907" y="0"/>
                </a:lnTo>
                <a:lnTo>
                  <a:pt x="475907" y="713212"/>
                </a:lnTo>
                <a:lnTo>
                  <a:pt x="0" y="7132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6726570" y="8199120"/>
            <a:ext cx="4721028" cy="834390"/>
          </a:xfrm>
          <a:prstGeom prst="rect">
            <a:avLst/>
          </a:prstGeom>
        </p:spPr>
        <p:txBody>
          <a:bodyPr anchor="t" rtlCol="false" tIns="0" lIns="0" bIns="0" rIns="0">
            <a:spAutoFit/>
          </a:bodyPr>
          <a:lstStyle/>
          <a:p>
            <a:pPr algn="l" marL="0" indent="0" lvl="0">
              <a:lnSpc>
                <a:spcPts val="3359"/>
              </a:lnSpc>
              <a:spcBef>
                <a:spcPct val="0"/>
              </a:spcBef>
            </a:pPr>
            <a:r>
              <a:rPr lang="en-US" sz="2399">
                <a:solidFill>
                  <a:srgbClr val="000000"/>
                </a:solidFill>
                <a:latin typeface="Roboto"/>
                <a:ea typeface="Roboto"/>
                <a:cs typeface="Roboto"/>
                <a:sym typeface="Roboto"/>
              </a:rPr>
              <a:t>T</a:t>
            </a:r>
            <a:r>
              <a:rPr lang="en-US" sz="2399" u="none">
                <a:solidFill>
                  <a:srgbClr val="000000"/>
                </a:solidFill>
                <a:latin typeface="Roboto"/>
                <a:ea typeface="Roboto"/>
                <a:cs typeface="Roboto"/>
                <a:sym typeface="Roboto"/>
              </a:rPr>
              <a:t>idak perlu beli server fisik, bayar sesuai pemakaian.</a:t>
            </a:r>
          </a:p>
        </p:txBody>
      </p:sp>
      <p:sp>
        <p:nvSpPr>
          <p:cNvPr name="TextBox 6" id="6"/>
          <p:cNvSpPr txBox="true"/>
          <p:nvPr/>
        </p:nvSpPr>
        <p:spPr>
          <a:xfrm rot="0">
            <a:off x="12443490" y="8199120"/>
            <a:ext cx="4721028" cy="834390"/>
          </a:xfrm>
          <a:prstGeom prst="rect">
            <a:avLst/>
          </a:prstGeom>
        </p:spPr>
        <p:txBody>
          <a:bodyPr anchor="t" rtlCol="false" tIns="0" lIns="0" bIns="0" rIns="0">
            <a:spAutoFit/>
          </a:bodyPr>
          <a:lstStyle/>
          <a:p>
            <a:pPr algn="l" marL="0" indent="0" lvl="0">
              <a:lnSpc>
                <a:spcPts val="3359"/>
              </a:lnSpc>
              <a:spcBef>
                <a:spcPct val="0"/>
              </a:spcBef>
            </a:pPr>
            <a:r>
              <a:rPr lang="en-US" sz="2399">
                <a:solidFill>
                  <a:srgbClr val="000000"/>
                </a:solidFill>
                <a:latin typeface="Roboto"/>
                <a:ea typeface="Roboto"/>
                <a:cs typeface="Roboto"/>
                <a:sym typeface="Roboto"/>
              </a:rPr>
              <a:t>Bi</a:t>
            </a:r>
            <a:r>
              <a:rPr lang="en-US" sz="2399" u="none">
                <a:solidFill>
                  <a:srgbClr val="000000"/>
                </a:solidFill>
                <a:latin typeface="Roboto"/>
                <a:ea typeface="Roboto"/>
                <a:cs typeface="Roboto"/>
                <a:sym typeface="Roboto"/>
              </a:rPr>
              <a:t>sa diakses dari mana saja via internet.</a:t>
            </a:r>
          </a:p>
        </p:txBody>
      </p:sp>
      <p:sp>
        <p:nvSpPr>
          <p:cNvPr name="Freeform 7" id="7"/>
          <p:cNvSpPr/>
          <p:nvPr/>
        </p:nvSpPr>
        <p:spPr>
          <a:xfrm flipH="false" flipV="false" rot="0">
            <a:off x="13006398" y="1306030"/>
            <a:ext cx="4141167" cy="3983049"/>
          </a:xfrm>
          <a:custGeom>
            <a:avLst/>
            <a:gdLst/>
            <a:ahLst/>
            <a:cxnLst/>
            <a:rect r="r" b="b" t="t" l="l"/>
            <a:pathLst>
              <a:path h="3983049" w="4141167">
                <a:moveTo>
                  <a:pt x="0" y="0"/>
                </a:moveTo>
                <a:lnTo>
                  <a:pt x="4141167" y="0"/>
                </a:lnTo>
                <a:lnTo>
                  <a:pt x="4141167" y="3983050"/>
                </a:lnTo>
                <a:lnTo>
                  <a:pt x="0" y="39830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009650" y="3231372"/>
            <a:ext cx="10722889" cy="1292225"/>
          </a:xfrm>
          <a:prstGeom prst="rect">
            <a:avLst/>
          </a:prstGeom>
        </p:spPr>
        <p:txBody>
          <a:bodyPr anchor="t" rtlCol="false" tIns="0" lIns="0" bIns="0" rIns="0">
            <a:spAutoFit/>
          </a:bodyPr>
          <a:lstStyle/>
          <a:p>
            <a:pPr algn="l" marL="0" indent="0" lvl="0">
              <a:lnSpc>
                <a:spcPts val="8499"/>
              </a:lnSpc>
              <a:spcBef>
                <a:spcPct val="0"/>
              </a:spcBef>
            </a:pPr>
            <a:r>
              <a:rPr lang="en-US" sz="8499">
                <a:solidFill>
                  <a:srgbClr val="FFFFFF"/>
                </a:solidFill>
                <a:latin typeface="Chunk Five"/>
                <a:ea typeface="Chunk Five"/>
                <a:cs typeface="Chunk Five"/>
                <a:sym typeface="Chunk Five"/>
              </a:rPr>
              <a:t>K</a:t>
            </a:r>
            <a:r>
              <a:rPr lang="en-US" sz="8499" u="none">
                <a:solidFill>
                  <a:srgbClr val="FFFFFF"/>
                </a:solidFill>
                <a:latin typeface="Chunk Five"/>
                <a:ea typeface="Chunk Five"/>
                <a:cs typeface="Chunk Five"/>
                <a:sym typeface="Chunk Five"/>
              </a:rPr>
              <a:t>euntungan Cloud</a:t>
            </a:r>
          </a:p>
        </p:txBody>
      </p:sp>
      <p:sp>
        <p:nvSpPr>
          <p:cNvPr name="Freeform 9" id="9"/>
          <p:cNvSpPr/>
          <p:nvPr/>
        </p:nvSpPr>
        <p:spPr>
          <a:xfrm flipH="false" flipV="false" rot="0">
            <a:off x="8849131" y="6858783"/>
            <a:ext cx="475906" cy="713211"/>
          </a:xfrm>
          <a:custGeom>
            <a:avLst/>
            <a:gdLst/>
            <a:ahLst/>
            <a:cxnLst/>
            <a:rect r="r" b="b" t="t" l="l"/>
            <a:pathLst>
              <a:path h="713211" w="475906">
                <a:moveTo>
                  <a:pt x="0" y="0"/>
                </a:moveTo>
                <a:lnTo>
                  <a:pt x="475906" y="0"/>
                </a:lnTo>
                <a:lnTo>
                  <a:pt x="475906" y="713212"/>
                </a:lnTo>
                <a:lnTo>
                  <a:pt x="0" y="7132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4328097" y="6858783"/>
            <a:ext cx="475906" cy="713211"/>
          </a:xfrm>
          <a:custGeom>
            <a:avLst/>
            <a:gdLst/>
            <a:ahLst/>
            <a:cxnLst/>
            <a:rect r="r" b="b" t="t" l="l"/>
            <a:pathLst>
              <a:path h="713211" w="475906">
                <a:moveTo>
                  <a:pt x="0" y="0"/>
                </a:moveTo>
                <a:lnTo>
                  <a:pt x="475907" y="0"/>
                </a:lnTo>
                <a:lnTo>
                  <a:pt x="475907" y="713212"/>
                </a:lnTo>
                <a:lnTo>
                  <a:pt x="0" y="7132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18288000" cy="6462743"/>
          </a:xfrm>
          <a:prstGeom prst="rect">
            <a:avLst/>
          </a:prstGeom>
          <a:solidFill>
            <a:srgbClr val="FDC3C5"/>
          </a:solidFill>
        </p:spPr>
      </p:sp>
      <p:sp>
        <p:nvSpPr>
          <p:cNvPr name="TextBox 3" id="3"/>
          <p:cNvSpPr txBox="true"/>
          <p:nvPr/>
        </p:nvSpPr>
        <p:spPr>
          <a:xfrm rot="0">
            <a:off x="1009650" y="8199120"/>
            <a:ext cx="4721028" cy="415290"/>
          </a:xfrm>
          <a:prstGeom prst="rect">
            <a:avLst/>
          </a:prstGeom>
        </p:spPr>
        <p:txBody>
          <a:bodyPr anchor="t" rtlCol="false" tIns="0" lIns="0" bIns="0" rIns="0">
            <a:spAutoFit/>
          </a:bodyPr>
          <a:lstStyle/>
          <a:p>
            <a:pPr algn="l" marL="0" indent="0" lvl="0">
              <a:lnSpc>
                <a:spcPts val="3359"/>
              </a:lnSpc>
              <a:spcBef>
                <a:spcPct val="0"/>
              </a:spcBef>
            </a:pPr>
            <a:r>
              <a:rPr lang="en-US" sz="2399">
                <a:solidFill>
                  <a:srgbClr val="000000"/>
                </a:solidFill>
                <a:latin typeface="Roboto"/>
                <a:ea typeface="Roboto"/>
                <a:cs typeface="Roboto"/>
                <a:sym typeface="Roboto"/>
              </a:rPr>
              <a:t>Ha</a:t>
            </a:r>
            <a:r>
              <a:rPr lang="en-US" sz="2399" u="none">
                <a:solidFill>
                  <a:srgbClr val="000000"/>
                </a:solidFill>
                <a:latin typeface="Roboto"/>
                <a:ea typeface="Roboto"/>
                <a:cs typeface="Roboto"/>
                <a:sym typeface="Roboto"/>
              </a:rPr>
              <a:t>rus ada koneksi stabil.</a:t>
            </a:r>
          </a:p>
        </p:txBody>
      </p:sp>
      <p:sp>
        <p:nvSpPr>
          <p:cNvPr name="Freeform 4" id="4"/>
          <p:cNvSpPr/>
          <p:nvPr/>
        </p:nvSpPr>
        <p:spPr>
          <a:xfrm flipH="false" flipV="false" rot="0">
            <a:off x="2057837" y="6858783"/>
            <a:ext cx="475906" cy="713211"/>
          </a:xfrm>
          <a:custGeom>
            <a:avLst/>
            <a:gdLst/>
            <a:ahLst/>
            <a:cxnLst/>
            <a:rect r="r" b="b" t="t" l="l"/>
            <a:pathLst>
              <a:path h="713211" w="475906">
                <a:moveTo>
                  <a:pt x="0" y="0"/>
                </a:moveTo>
                <a:lnTo>
                  <a:pt x="475907" y="0"/>
                </a:lnTo>
                <a:lnTo>
                  <a:pt x="475907" y="713212"/>
                </a:lnTo>
                <a:lnTo>
                  <a:pt x="0" y="7132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6726570" y="8199120"/>
            <a:ext cx="4721028" cy="834390"/>
          </a:xfrm>
          <a:prstGeom prst="rect">
            <a:avLst/>
          </a:prstGeom>
        </p:spPr>
        <p:txBody>
          <a:bodyPr anchor="t" rtlCol="false" tIns="0" lIns="0" bIns="0" rIns="0">
            <a:spAutoFit/>
          </a:bodyPr>
          <a:lstStyle/>
          <a:p>
            <a:pPr algn="l" marL="0" indent="0" lvl="0">
              <a:lnSpc>
                <a:spcPts val="3359"/>
              </a:lnSpc>
              <a:spcBef>
                <a:spcPct val="0"/>
              </a:spcBef>
            </a:pPr>
            <a:r>
              <a:rPr lang="en-US" sz="2399">
                <a:solidFill>
                  <a:srgbClr val="000000"/>
                </a:solidFill>
                <a:latin typeface="Roboto"/>
                <a:ea typeface="Roboto"/>
                <a:cs typeface="Roboto"/>
                <a:sym typeface="Roboto"/>
              </a:rPr>
              <a:t>R</a:t>
            </a:r>
            <a:r>
              <a:rPr lang="en-US" sz="2399" u="none">
                <a:solidFill>
                  <a:srgbClr val="000000"/>
                </a:solidFill>
                <a:latin typeface="Roboto"/>
                <a:ea typeface="Roboto"/>
                <a:cs typeface="Roboto"/>
                <a:sym typeface="Roboto"/>
              </a:rPr>
              <a:t>isiko penyimpanan data di pihak ketiga.</a:t>
            </a:r>
          </a:p>
        </p:txBody>
      </p:sp>
      <p:sp>
        <p:nvSpPr>
          <p:cNvPr name="TextBox 6" id="6"/>
          <p:cNvSpPr txBox="true"/>
          <p:nvPr/>
        </p:nvSpPr>
        <p:spPr>
          <a:xfrm rot="0">
            <a:off x="12443490" y="8199120"/>
            <a:ext cx="4721028" cy="1253490"/>
          </a:xfrm>
          <a:prstGeom prst="rect">
            <a:avLst/>
          </a:prstGeom>
        </p:spPr>
        <p:txBody>
          <a:bodyPr anchor="t" rtlCol="false" tIns="0" lIns="0" bIns="0" rIns="0">
            <a:spAutoFit/>
          </a:bodyPr>
          <a:lstStyle/>
          <a:p>
            <a:pPr algn="l" marL="0" indent="0" lvl="0">
              <a:lnSpc>
                <a:spcPts val="3359"/>
              </a:lnSpc>
              <a:spcBef>
                <a:spcPct val="0"/>
              </a:spcBef>
            </a:pPr>
            <a:r>
              <a:rPr lang="en-US" sz="2399">
                <a:solidFill>
                  <a:srgbClr val="000000"/>
                </a:solidFill>
                <a:latin typeface="Roboto"/>
                <a:ea typeface="Roboto"/>
                <a:cs typeface="Roboto"/>
                <a:sym typeface="Roboto"/>
              </a:rPr>
              <a:t>Sulit</a:t>
            </a:r>
            <a:r>
              <a:rPr lang="en-US" sz="2399" u="none">
                <a:solidFill>
                  <a:srgbClr val="000000"/>
                </a:solidFill>
                <a:latin typeface="Roboto"/>
                <a:ea typeface="Roboto"/>
                <a:cs typeface="Roboto"/>
                <a:sym typeface="Roboto"/>
              </a:rPr>
              <a:t> berpindah layanan karena ketergantungan sistem/vendor tertentu.</a:t>
            </a:r>
          </a:p>
        </p:txBody>
      </p:sp>
      <p:sp>
        <p:nvSpPr>
          <p:cNvPr name="Freeform 7" id="7"/>
          <p:cNvSpPr/>
          <p:nvPr/>
        </p:nvSpPr>
        <p:spPr>
          <a:xfrm flipH="false" flipV="false" rot="0">
            <a:off x="13006398" y="1306030"/>
            <a:ext cx="4141167" cy="3983049"/>
          </a:xfrm>
          <a:custGeom>
            <a:avLst/>
            <a:gdLst/>
            <a:ahLst/>
            <a:cxnLst/>
            <a:rect r="r" b="b" t="t" l="l"/>
            <a:pathLst>
              <a:path h="3983049" w="4141167">
                <a:moveTo>
                  <a:pt x="0" y="0"/>
                </a:moveTo>
                <a:lnTo>
                  <a:pt x="4141167" y="0"/>
                </a:lnTo>
                <a:lnTo>
                  <a:pt x="4141167" y="3983050"/>
                </a:lnTo>
                <a:lnTo>
                  <a:pt x="0" y="39830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009650" y="3231372"/>
            <a:ext cx="10722889" cy="1292225"/>
          </a:xfrm>
          <a:prstGeom prst="rect">
            <a:avLst/>
          </a:prstGeom>
        </p:spPr>
        <p:txBody>
          <a:bodyPr anchor="t" rtlCol="false" tIns="0" lIns="0" bIns="0" rIns="0">
            <a:spAutoFit/>
          </a:bodyPr>
          <a:lstStyle/>
          <a:p>
            <a:pPr algn="l" marL="0" indent="0" lvl="0">
              <a:lnSpc>
                <a:spcPts val="8499"/>
              </a:lnSpc>
              <a:spcBef>
                <a:spcPct val="0"/>
              </a:spcBef>
            </a:pPr>
            <a:r>
              <a:rPr lang="en-US" sz="8499">
                <a:solidFill>
                  <a:srgbClr val="FFFFFF"/>
                </a:solidFill>
                <a:latin typeface="Chunk Five"/>
                <a:ea typeface="Chunk Five"/>
                <a:cs typeface="Chunk Five"/>
                <a:sym typeface="Chunk Five"/>
              </a:rPr>
              <a:t>K</a:t>
            </a:r>
            <a:r>
              <a:rPr lang="en-US" sz="8499" u="none">
                <a:solidFill>
                  <a:srgbClr val="FFFFFF"/>
                </a:solidFill>
                <a:latin typeface="Chunk Five"/>
                <a:ea typeface="Chunk Five"/>
                <a:cs typeface="Chunk Five"/>
                <a:sym typeface="Chunk Five"/>
              </a:rPr>
              <a:t>elemahan Cloud</a:t>
            </a:r>
          </a:p>
        </p:txBody>
      </p:sp>
      <p:sp>
        <p:nvSpPr>
          <p:cNvPr name="Freeform 9" id="9"/>
          <p:cNvSpPr/>
          <p:nvPr/>
        </p:nvSpPr>
        <p:spPr>
          <a:xfrm flipH="false" flipV="false" rot="0">
            <a:off x="8849131" y="6858783"/>
            <a:ext cx="475906" cy="713211"/>
          </a:xfrm>
          <a:custGeom>
            <a:avLst/>
            <a:gdLst/>
            <a:ahLst/>
            <a:cxnLst/>
            <a:rect r="r" b="b" t="t" l="l"/>
            <a:pathLst>
              <a:path h="713211" w="475906">
                <a:moveTo>
                  <a:pt x="0" y="0"/>
                </a:moveTo>
                <a:lnTo>
                  <a:pt x="475906" y="0"/>
                </a:lnTo>
                <a:lnTo>
                  <a:pt x="475906" y="713212"/>
                </a:lnTo>
                <a:lnTo>
                  <a:pt x="0" y="7132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4328097" y="6858783"/>
            <a:ext cx="475906" cy="713211"/>
          </a:xfrm>
          <a:custGeom>
            <a:avLst/>
            <a:gdLst/>
            <a:ahLst/>
            <a:cxnLst/>
            <a:rect r="r" b="b" t="t" l="l"/>
            <a:pathLst>
              <a:path h="713211" w="475906">
                <a:moveTo>
                  <a:pt x="0" y="0"/>
                </a:moveTo>
                <a:lnTo>
                  <a:pt x="475907" y="0"/>
                </a:lnTo>
                <a:lnTo>
                  <a:pt x="475907" y="713212"/>
                </a:lnTo>
                <a:lnTo>
                  <a:pt x="0" y="7132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7957908" cy="10287000"/>
            <a:chOff x="0" y="0"/>
            <a:chExt cx="7126971" cy="9212867"/>
          </a:xfrm>
        </p:grpSpPr>
        <p:sp>
          <p:nvSpPr>
            <p:cNvPr name="Freeform 3" id="3"/>
            <p:cNvSpPr/>
            <p:nvPr/>
          </p:nvSpPr>
          <p:spPr>
            <a:xfrm flipH="false" flipV="false" rot="0">
              <a:off x="0" y="0"/>
              <a:ext cx="7126970" cy="9212867"/>
            </a:xfrm>
            <a:custGeom>
              <a:avLst/>
              <a:gdLst/>
              <a:ahLst/>
              <a:cxnLst/>
              <a:rect r="r" b="b" t="t" l="l"/>
              <a:pathLst>
                <a:path h="9212867" w="7126970">
                  <a:moveTo>
                    <a:pt x="0" y="0"/>
                  </a:moveTo>
                  <a:lnTo>
                    <a:pt x="7126970" y="0"/>
                  </a:lnTo>
                  <a:lnTo>
                    <a:pt x="7126970" y="9212867"/>
                  </a:lnTo>
                  <a:lnTo>
                    <a:pt x="0" y="9212867"/>
                  </a:lnTo>
                  <a:close/>
                </a:path>
              </a:pathLst>
            </a:custGeom>
            <a:solidFill>
              <a:srgbClr val="FDC3C5"/>
            </a:solidFill>
          </p:spPr>
        </p:sp>
      </p:grpSp>
      <p:sp>
        <p:nvSpPr>
          <p:cNvPr name="TextBox 4" id="4"/>
          <p:cNvSpPr txBox="true"/>
          <p:nvPr/>
        </p:nvSpPr>
        <p:spPr>
          <a:xfrm rot="0">
            <a:off x="8901335" y="1028700"/>
            <a:ext cx="8357965" cy="2367532"/>
          </a:xfrm>
          <a:prstGeom prst="rect">
            <a:avLst/>
          </a:prstGeom>
        </p:spPr>
        <p:txBody>
          <a:bodyPr anchor="t" rtlCol="false" tIns="0" lIns="0" bIns="0" rIns="0">
            <a:spAutoFit/>
          </a:bodyPr>
          <a:lstStyle/>
          <a:p>
            <a:pPr algn="l" marL="0" indent="0" lvl="0">
              <a:lnSpc>
                <a:spcPts val="8499"/>
              </a:lnSpc>
              <a:spcBef>
                <a:spcPct val="0"/>
              </a:spcBef>
            </a:pPr>
            <a:r>
              <a:rPr lang="en-US" sz="8499">
                <a:solidFill>
                  <a:srgbClr val="FE502D"/>
                </a:solidFill>
                <a:latin typeface="Chunk Five"/>
                <a:ea typeface="Chunk Five"/>
                <a:cs typeface="Chunk Five"/>
                <a:sym typeface="Chunk Five"/>
              </a:rPr>
              <a:t>C. Infr</a:t>
            </a:r>
            <a:r>
              <a:rPr lang="en-US" sz="8499" u="none">
                <a:solidFill>
                  <a:srgbClr val="FE502D"/>
                </a:solidFill>
                <a:latin typeface="Chunk Five"/>
                <a:ea typeface="Chunk Five"/>
                <a:cs typeface="Chunk Five"/>
                <a:sym typeface="Chunk Five"/>
              </a:rPr>
              <a:t>astruktur Hybrid</a:t>
            </a:r>
          </a:p>
        </p:txBody>
      </p:sp>
      <p:sp>
        <p:nvSpPr>
          <p:cNvPr name="TextBox 5" id="5"/>
          <p:cNvSpPr txBox="true"/>
          <p:nvPr/>
        </p:nvSpPr>
        <p:spPr>
          <a:xfrm rot="0">
            <a:off x="9141270" y="4401098"/>
            <a:ext cx="7878095" cy="3311525"/>
          </a:xfrm>
          <a:prstGeom prst="rect">
            <a:avLst/>
          </a:prstGeom>
        </p:spPr>
        <p:txBody>
          <a:bodyPr anchor="t" rtlCol="false" tIns="0" lIns="0" bIns="0" rIns="0">
            <a:spAutoFit/>
          </a:bodyPr>
          <a:lstStyle/>
          <a:p>
            <a:pPr algn="l" marL="0" indent="0" lvl="0">
              <a:lnSpc>
                <a:spcPts val="4374"/>
              </a:lnSpc>
              <a:spcBef>
                <a:spcPct val="0"/>
              </a:spcBef>
            </a:pPr>
            <a:r>
              <a:rPr lang="en-US" sz="3499" spc="-69">
                <a:solidFill>
                  <a:srgbClr val="000000"/>
                </a:solidFill>
                <a:latin typeface="Roboto"/>
                <a:ea typeface="Roboto"/>
                <a:cs typeface="Roboto"/>
                <a:sym typeface="Roboto"/>
              </a:rPr>
              <a:t>Model Hyb</a:t>
            </a:r>
            <a:r>
              <a:rPr lang="en-US" sz="3499" spc="-69">
                <a:solidFill>
                  <a:srgbClr val="000000"/>
                </a:solidFill>
                <a:latin typeface="Roboto"/>
                <a:ea typeface="Roboto"/>
                <a:cs typeface="Roboto"/>
                <a:sym typeface="Roboto"/>
              </a:rPr>
              <a:t>ri</a:t>
            </a:r>
            <a:r>
              <a:rPr lang="en-US" sz="3499" spc="-69" u="none">
                <a:solidFill>
                  <a:srgbClr val="000000"/>
                </a:solidFill>
                <a:latin typeface="Roboto"/>
                <a:ea typeface="Roboto"/>
                <a:cs typeface="Roboto"/>
                <a:sym typeface="Roboto"/>
              </a:rPr>
              <a:t>d adalah ko</a:t>
            </a:r>
            <a:r>
              <a:rPr lang="en-US" sz="3499" spc="-69">
                <a:solidFill>
                  <a:srgbClr val="000000"/>
                </a:solidFill>
                <a:latin typeface="Roboto"/>
                <a:ea typeface="Roboto"/>
                <a:cs typeface="Roboto"/>
                <a:sym typeface="Roboto"/>
              </a:rPr>
              <a:t>m</a:t>
            </a:r>
            <a:r>
              <a:rPr lang="en-US" sz="3499" spc="-69" u="none">
                <a:solidFill>
                  <a:srgbClr val="000000"/>
                </a:solidFill>
                <a:latin typeface="Roboto"/>
                <a:ea typeface="Roboto"/>
                <a:cs typeface="Roboto"/>
                <a:sym typeface="Roboto"/>
              </a:rPr>
              <a:t>binasi</a:t>
            </a:r>
            <a:r>
              <a:rPr lang="en-US" sz="3499" spc="-69">
                <a:solidFill>
                  <a:srgbClr val="000000"/>
                </a:solidFill>
                <a:latin typeface="Roboto"/>
                <a:ea typeface="Roboto"/>
                <a:cs typeface="Roboto"/>
                <a:sym typeface="Roboto"/>
              </a:rPr>
              <a:t> </a:t>
            </a:r>
            <a:r>
              <a:rPr lang="en-US" sz="3499" spc="-69" u="none">
                <a:solidFill>
                  <a:srgbClr val="000000"/>
                </a:solidFill>
                <a:latin typeface="Roboto"/>
                <a:ea typeface="Roboto"/>
                <a:cs typeface="Roboto"/>
                <a:sym typeface="Roboto"/>
              </a:rPr>
              <a:t>anta</a:t>
            </a:r>
            <a:r>
              <a:rPr lang="en-US" sz="3499" spc="-69">
                <a:solidFill>
                  <a:srgbClr val="000000"/>
                </a:solidFill>
                <a:latin typeface="Roboto"/>
                <a:ea typeface="Roboto"/>
                <a:cs typeface="Roboto"/>
                <a:sym typeface="Roboto"/>
              </a:rPr>
              <a:t>r</a:t>
            </a:r>
            <a:r>
              <a:rPr lang="en-US" sz="3499" spc="-69" u="none">
                <a:solidFill>
                  <a:srgbClr val="000000"/>
                </a:solidFill>
                <a:latin typeface="Roboto"/>
                <a:ea typeface="Roboto"/>
                <a:cs typeface="Roboto"/>
                <a:sym typeface="Roboto"/>
              </a:rPr>
              <a:t>a On-Pr</a:t>
            </a:r>
            <a:r>
              <a:rPr lang="en-US" sz="3499" spc="-69">
                <a:solidFill>
                  <a:srgbClr val="000000"/>
                </a:solidFill>
                <a:latin typeface="Roboto"/>
                <a:ea typeface="Roboto"/>
                <a:cs typeface="Roboto"/>
                <a:sym typeface="Roboto"/>
              </a:rPr>
              <a:t>e</a:t>
            </a:r>
            <a:r>
              <a:rPr lang="en-US" sz="3499" spc="-69" u="none">
                <a:solidFill>
                  <a:srgbClr val="000000"/>
                </a:solidFill>
                <a:latin typeface="Roboto"/>
                <a:ea typeface="Roboto"/>
                <a:cs typeface="Roboto"/>
                <a:sym typeface="Roboto"/>
              </a:rPr>
              <a:t>m</a:t>
            </a:r>
            <a:r>
              <a:rPr lang="en-US" sz="3499" spc="-69">
                <a:solidFill>
                  <a:srgbClr val="000000"/>
                </a:solidFill>
                <a:latin typeface="Roboto"/>
                <a:ea typeface="Roboto"/>
                <a:cs typeface="Roboto"/>
                <a:sym typeface="Roboto"/>
              </a:rPr>
              <a:t>i</a:t>
            </a:r>
            <a:r>
              <a:rPr lang="en-US" sz="3499" spc="-69" u="none">
                <a:solidFill>
                  <a:srgbClr val="000000"/>
                </a:solidFill>
                <a:latin typeface="Roboto"/>
                <a:ea typeface="Roboto"/>
                <a:cs typeface="Roboto"/>
                <a:sym typeface="Roboto"/>
              </a:rPr>
              <a:t>ses</a:t>
            </a:r>
            <a:r>
              <a:rPr lang="en-US" sz="3499" spc="-69">
                <a:solidFill>
                  <a:srgbClr val="000000"/>
                </a:solidFill>
                <a:latin typeface="Roboto"/>
                <a:ea typeface="Roboto"/>
                <a:cs typeface="Roboto"/>
                <a:sym typeface="Roboto"/>
              </a:rPr>
              <a:t> dan </a:t>
            </a:r>
            <a:r>
              <a:rPr lang="en-US" sz="3499" spc="-69" u="none">
                <a:solidFill>
                  <a:srgbClr val="000000"/>
                </a:solidFill>
                <a:latin typeface="Roboto"/>
                <a:ea typeface="Roboto"/>
                <a:cs typeface="Roboto"/>
                <a:sym typeface="Roboto"/>
              </a:rPr>
              <a:t>Cloud. O</a:t>
            </a:r>
            <a:r>
              <a:rPr lang="en-US" sz="3499" spc="-69">
                <a:solidFill>
                  <a:srgbClr val="000000"/>
                </a:solidFill>
                <a:latin typeface="Roboto"/>
                <a:ea typeface="Roboto"/>
                <a:cs typeface="Roboto"/>
                <a:sym typeface="Roboto"/>
              </a:rPr>
              <a:t>r</a:t>
            </a:r>
            <a:r>
              <a:rPr lang="en-US" sz="3499" spc="-69" u="none">
                <a:solidFill>
                  <a:srgbClr val="000000"/>
                </a:solidFill>
                <a:latin typeface="Roboto"/>
                <a:ea typeface="Roboto"/>
                <a:cs typeface="Roboto"/>
                <a:sym typeface="Roboto"/>
              </a:rPr>
              <a:t>g</a:t>
            </a:r>
            <a:r>
              <a:rPr lang="en-US" sz="3499" spc="-69">
                <a:solidFill>
                  <a:srgbClr val="000000"/>
                </a:solidFill>
                <a:latin typeface="Roboto"/>
                <a:ea typeface="Roboto"/>
                <a:cs typeface="Roboto"/>
                <a:sym typeface="Roboto"/>
              </a:rPr>
              <a:t>an</a:t>
            </a:r>
            <a:r>
              <a:rPr lang="en-US" sz="3499" spc="-69" u="none">
                <a:solidFill>
                  <a:srgbClr val="000000"/>
                </a:solidFill>
                <a:latin typeface="Roboto"/>
                <a:ea typeface="Roboto"/>
                <a:cs typeface="Roboto"/>
                <a:sym typeface="Roboto"/>
              </a:rPr>
              <a:t>is</a:t>
            </a:r>
            <a:r>
              <a:rPr lang="en-US" sz="3499" spc="-69">
                <a:solidFill>
                  <a:srgbClr val="000000"/>
                </a:solidFill>
                <a:latin typeface="Roboto"/>
                <a:ea typeface="Roboto"/>
                <a:cs typeface="Roboto"/>
                <a:sym typeface="Roboto"/>
              </a:rPr>
              <a:t>a</a:t>
            </a:r>
            <a:r>
              <a:rPr lang="en-US" sz="3499" spc="-69" u="none">
                <a:solidFill>
                  <a:srgbClr val="000000"/>
                </a:solidFill>
                <a:latin typeface="Roboto"/>
                <a:ea typeface="Roboto"/>
                <a:cs typeface="Roboto"/>
                <a:sym typeface="Roboto"/>
              </a:rPr>
              <a:t>si d</a:t>
            </a:r>
            <a:r>
              <a:rPr lang="en-US" sz="3499" spc="-69">
                <a:solidFill>
                  <a:srgbClr val="000000"/>
                </a:solidFill>
                <a:latin typeface="Roboto"/>
                <a:ea typeface="Roboto"/>
                <a:cs typeface="Roboto"/>
                <a:sym typeface="Roboto"/>
              </a:rPr>
              <a:t>a</a:t>
            </a:r>
            <a:r>
              <a:rPr lang="en-US" sz="3499" spc="-69" u="none">
                <a:solidFill>
                  <a:srgbClr val="000000"/>
                </a:solidFill>
                <a:latin typeface="Roboto"/>
                <a:ea typeface="Roboto"/>
                <a:cs typeface="Roboto"/>
                <a:sym typeface="Roboto"/>
              </a:rPr>
              <a:t>pat</a:t>
            </a:r>
            <a:r>
              <a:rPr lang="en-US" sz="3499" spc="-69">
                <a:solidFill>
                  <a:srgbClr val="000000"/>
                </a:solidFill>
                <a:latin typeface="Roboto"/>
                <a:ea typeface="Roboto"/>
                <a:cs typeface="Roboto"/>
                <a:sym typeface="Roboto"/>
              </a:rPr>
              <a:t> </a:t>
            </a:r>
            <a:r>
              <a:rPr lang="en-US" sz="3499" spc="-69" u="none">
                <a:solidFill>
                  <a:srgbClr val="000000"/>
                </a:solidFill>
                <a:latin typeface="Roboto"/>
                <a:ea typeface="Roboto"/>
                <a:cs typeface="Roboto"/>
                <a:sym typeface="Roboto"/>
              </a:rPr>
              <a:t>men</a:t>
            </a:r>
            <a:r>
              <a:rPr lang="en-US" sz="3499" spc="-69">
                <a:solidFill>
                  <a:srgbClr val="000000"/>
                </a:solidFill>
                <a:latin typeface="Roboto"/>
                <a:ea typeface="Roboto"/>
                <a:cs typeface="Roboto"/>
                <a:sym typeface="Roboto"/>
              </a:rPr>
              <a:t>y</a:t>
            </a:r>
            <a:r>
              <a:rPr lang="en-US" sz="3499" spc="-69" u="none">
                <a:solidFill>
                  <a:srgbClr val="000000"/>
                </a:solidFill>
                <a:latin typeface="Roboto"/>
                <a:ea typeface="Roboto"/>
                <a:cs typeface="Roboto"/>
                <a:sym typeface="Roboto"/>
              </a:rPr>
              <a:t>imp</a:t>
            </a:r>
            <a:r>
              <a:rPr lang="en-US" sz="3499" spc="-69">
                <a:solidFill>
                  <a:srgbClr val="000000"/>
                </a:solidFill>
                <a:latin typeface="Roboto"/>
                <a:ea typeface="Roboto"/>
                <a:cs typeface="Roboto"/>
                <a:sym typeface="Roboto"/>
              </a:rPr>
              <a:t>an da</a:t>
            </a:r>
            <a:r>
              <a:rPr lang="en-US" sz="3499" spc="-69" u="none">
                <a:solidFill>
                  <a:srgbClr val="000000"/>
                </a:solidFill>
                <a:latin typeface="Roboto"/>
                <a:ea typeface="Roboto"/>
                <a:cs typeface="Roboto"/>
                <a:sym typeface="Roboto"/>
              </a:rPr>
              <a:t>t</a:t>
            </a:r>
            <a:r>
              <a:rPr lang="en-US" sz="3499" spc="-69">
                <a:solidFill>
                  <a:srgbClr val="000000"/>
                </a:solidFill>
                <a:latin typeface="Roboto"/>
                <a:ea typeface="Roboto"/>
                <a:cs typeface="Roboto"/>
                <a:sym typeface="Roboto"/>
              </a:rPr>
              <a:t>a</a:t>
            </a:r>
            <a:r>
              <a:rPr lang="en-US" sz="3499" spc="-69" u="none">
                <a:solidFill>
                  <a:srgbClr val="000000"/>
                </a:solidFill>
                <a:latin typeface="Roboto"/>
                <a:ea typeface="Roboto"/>
                <a:cs typeface="Roboto"/>
                <a:sym typeface="Roboto"/>
              </a:rPr>
              <a:t> sensi</a:t>
            </a:r>
            <a:r>
              <a:rPr lang="en-US" sz="3499" spc="-69">
                <a:solidFill>
                  <a:srgbClr val="000000"/>
                </a:solidFill>
                <a:latin typeface="Roboto"/>
                <a:ea typeface="Roboto"/>
                <a:cs typeface="Roboto"/>
                <a:sym typeface="Roboto"/>
              </a:rPr>
              <a:t>t</a:t>
            </a:r>
            <a:r>
              <a:rPr lang="en-US" sz="3499" spc="-69" u="none">
                <a:solidFill>
                  <a:srgbClr val="000000"/>
                </a:solidFill>
                <a:latin typeface="Roboto"/>
                <a:ea typeface="Roboto"/>
                <a:cs typeface="Roboto"/>
                <a:sym typeface="Roboto"/>
              </a:rPr>
              <a:t>if</a:t>
            </a:r>
            <a:r>
              <a:rPr lang="en-US" sz="3499" spc="-69">
                <a:solidFill>
                  <a:srgbClr val="000000"/>
                </a:solidFill>
                <a:latin typeface="Roboto"/>
                <a:ea typeface="Roboto"/>
                <a:cs typeface="Roboto"/>
                <a:sym typeface="Roboto"/>
              </a:rPr>
              <a:t> di</a:t>
            </a:r>
            <a:r>
              <a:rPr lang="en-US" sz="3499" spc="-69" u="none">
                <a:solidFill>
                  <a:srgbClr val="000000"/>
                </a:solidFill>
                <a:latin typeface="Roboto"/>
                <a:ea typeface="Roboto"/>
                <a:cs typeface="Roboto"/>
                <a:sym typeface="Roboto"/>
              </a:rPr>
              <a:t> infr</a:t>
            </a:r>
            <a:r>
              <a:rPr lang="en-US" sz="3499" spc="-69">
                <a:solidFill>
                  <a:srgbClr val="000000"/>
                </a:solidFill>
                <a:latin typeface="Roboto"/>
                <a:ea typeface="Roboto"/>
                <a:cs typeface="Roboto"/>
                <a:sym typeface="Roboto"/>
              </a:rPr>
              <a:t>a</a:t>
            </a:r>
            <a:r>
              <a:rPr lang="en-US" sz="3499" spc="-69" u="none">
                <a:solidFill>
                  <a:srgbClr val="000000"/>
                </a:solidFill>
                <a:latin typeface="Roboto"/>
                <a:ea typeface="Roboto"/>
                <a:cs typeface="Roboto"/>
                <a:sym typeface="Roboto"/>
              </a:rPr>
              <a:t>struktur</a:t>
            </a:r>
            <a:r>
              <a:rPr lang="en-US" sz="3499" spc="-69">
                <a:solidFill>
                  <a:srgbClr val="000000"/>
                </a:solidFill>
                <a:latin typeface="Roboto"/>
                <a:ea typeface="Roboto"/>
                <a:cs typeface="Roboto"/>
                <a:sym typeface="Roboto"/>
              </a:rPr>
              <a:t> </a:t>
            </a:r>
            <a:r>
              <a:rPr lang="en-US" sz="3499" spc="-69" u="none">
                <a:solidFill>
                  <a:srgbClr val="000000"/>
                </a:solidFill>
                <a:latin typeface="Roboto"/>
                <a:ea typeface="Roboto"/>
                <a:cs typeface="Roboto"/>
                <a:sym typeface="Roboto"/>
              </a:rPr>
              <a:t>l</a:t>
            </a:r>
            <a:r>
              <a:rPr lang="en-US" sz="3499" spc="-69">
                <a:solidFill>
                  <a:srgbClr val="000000"/>
                </a:solidFill>
                <a:latin typeface="Roboto"/>
                <a:ea typeface="Roboto"/>
                <a:cs typeface="Roboto"/>
                <a:sym typeface="Roboto"/>
              </a:rPr>
              <a:t>o</a:t>
            </a:r>
            <a:r>
              <a:rPr lang="en-US" sz="3499" spc="-69" u="none">
                <a:solidFill>
                  <a:srgbClr val="000000"/>
                </a:solidFill>
                <a:latin typeface="Roboto"/>
                <a:ea typeface="Roboto"/>
                <a:cs typeface="Roboto"/>
                <a:sym typeface="Roboto"/>
              </a:rPr>
              <a:t>ka</a:t>
            </a:r>
            <a:r>
              <a:rPr lang="en-US" sz="3499" spc="-69">
                <a:solidFill>
                  <a:srgbClr val="000000"/>
                </a:solidFill>
                <a:latin typeface="Roboto"/>
                <a:ea typeface="Roboto"/>
                <a:cs typeface="Roboto"/>
                <a:sym typeface="Roboto"/>
              </a:rPr>
              <a:t>l</a:t>
            </a:r>
            <a:r>
              <a:rPr lang="en-US" sz="3499" spc="-69" u="none">
                <a:solidFill>
                  <a:srgbClr val="000000"/>
                </a:solidFill>
                <a:latin typeface="Roboto"/>
                <a:ea typeface="Roboto"/>
                <a:cs typeface="Roboto"/>
                <a:sym typeface="Roboto"/>
              </a:rPr>
              <a:t> dan m</a:t>
            </a:r>
            <a:r>
              <a:rPr lang="en-US" sz="3499" spc="-69">
                <a:solidFill>
                  <a:srgbClr val="000000"/>
                </a:solidFill>
                <a:latin typeface="Roboto"/>
                <a:ea typeface="Roboto"/>
                <a:cs typeface="Roboto"/>
                <a:sym typeface="Roboto"/>
              </a:rPr>
              <a:t>e</a:t>
            </a:r>
            <a:r>
              <a:rPr lang="en-US" sz="3499" spc="-69" u="none">
                <a:solidFill>
                  <a:srgbClr val="000000"/>
                </a:solidFill>
                <a:latin typeface="Roboto"/>
                <a:ea typeface="Roboto"/>
                <a:cs typeface="Roboto"/>
                <a:sym typeface="Roboto"/>
              </a:rPr>
              <a:t>manfaatk</a:t>
            </a:r>
            <a:r>
              <a:rPr lang="en-US" sz="3499" spc="-69">
                <a:solidFill>
                  <a:srgbClr val="000000"/>
                </a:solidFill>
                <a:latin typeface="Roboto"/>
                <a:ea typeface="Roboto"/>
                <a:cs typeface="Roboto"/>
                <a:sym typeface="Roboto"/>
              </a:rPr>
              <a:t>a</a:t>
            </a:r>
            <a:r>
              <a:rPr lang="en-US" sz="3499" spc="-69" u="none">
                <a:solidFill>
                  <a:srgbClr val="000000"/>
                </a:solidFill>
                <a:latin typeface="Roboto"/>
                <a:ea typeface="Roboto"/>
                <a:cs typeface="Roboto"/>
                <a:sym typeface="Roboto"/>
              </a:rPr>
              <a:t>n clo</a:t>
            </a:r>
            <a:r>
              <a:rPr lang="en-US" sz="3499" spc="-69">
                <a:solidFill>
                  <a:srgbClr val="000000"/>
                </a:solidFill>
                <a:latin typeface="Roboto"/>
                <a:ea typeface="Roboto"/>
                <a:cs typeface="Roboto"/>
                <a:sym typeface="Roboto"/>
              </a:rPr>
              <a:t>ud</a:t>
            </a:r>
            <a:r>
              <a:rPr lang="en-US" sz="3499" spc="-69" u="none">
                <a:solidFill>
                  <a:srgbClr val="000000"/>
                </a:solidFill>
                <a:latin typeface="Roboto"/>
                <a:ea typeface="Roboto"/>
                <a:cs typeface="Roboto"/>
                <a:sym typeface="Roboto"/>
              </a:rPr>
              <a:t> untuk b</a:t>
            </a:r>
            <a:r>
              <a:rPr lang="en-US" sz="3499" spc="-69">
                <a:solidFill>
                  <a:srgbClr val="000000"/>
                </a:solidFill>
                <a:latin typeface="Roboto"/>
                <a:ea typeface="Roboto"/>
                <a:cs typeface="Roboto"/>
                <a:sym typeface="Roboto"/>
              </a:rPr>
              <a:t>e</a:t>
            </a:r>
            <a:r>
              <a:rPr lang="en-US" sz="3499" spc="-69" u="none">
                <a:solidFill>
                  <a:srgbClr val="000000"/>
                </a:solidFill>
                <a:latin typeface="Roboto"/>
                <a:ea typeface="Roboto"/>
                <a:cs typeface="Roboto"/>
                <a:sym typeface="Roboto"/>
              </a:rPr>
              <a:t>ba</a:t>
            </a:r>
            <a:r>
              <a:rPr lang="en-US" sz="3499" spc="-69">
                <a:solidFill>
                  <a:srgbClr val="000000"/>
                </a:solidFill>
                <a:latin typeface="Roboto"/>
                <a:ea typeface="Roboto"/>
                <a:cs typeface="Roboto"/>
                <a:sym typeface="Roboto"/>
              </a:rPr>
              <a:t>n </a:t>
            </a:r>
            <a:r>
              <a:rPr lang="en-US" sz="3499" spc="-69" u="none">
                <a:solidFill>
                  <a:srgbClr val="000000"/>
                </a:solidFill>
                <a:latin typeface="Roboto"/>
                <a:ea typeface="Roboto"/>
                <a:cs typeface="Roboto"/>
                <a:sym typeface="Roboto"/>
              </a:rPr>
              <a:t>kerja</a:t>
            </a:r>
            <a:r>
              <a:rPr lang="en-US" sz="3499" spc="-69">
                <a:solidFill>
                  <a:srgbClr val="000000"/>
                </a:solidFill>
                <a:latin typeface="Roboto"/>
                <a:ea typeface="Roboto"/>
                <a:cs typeface="Roboto"/>
                <a:sym typeface="Roboto"/>
              </a:rPr>
              <a:t> </a:t>
            </a:r>
            <a:r>
              <a:rPr lang="en-US" sz="3499" spc="-69" u="none">
                <a:solidFill>
                  <a:srgbClr val="000000"/>
                </a:solidFill>
                <a:latin typeface="Roboto"/>
                <a:ea typeface="Roboto"/>
                <a:cs typeface="Roboto"/>
                <a:sym typeface="Roboto"/>
              </a:rPr>
              <a:t>t</a:t>
            </a:r>
            <a:r>
              <a:rPr lang="en-US" sz="3499" spc="-69">
                <a:solidFill>
                  <a:srgbClr val="000000"/>
                </a:solidFill>
                <a:latin typeface="Roboto"/>
                <a:ea typeface="Roboto"/>
                <a:cs typeface="Roboto"/>
                <a:sym typeface="Roboto"/>
              </a:rPr>
              <a:t>er</a:t>
            </a:r>
            <a:r>
              <a:rPr lang="en-US" sz="3499" spc="-69" u="none">
                <a:solidFill>
                  <a:srgbClr val="000000"/>
                </a:solidFill>
                <a:latin typeface="Roboto"/>
                <a:ea typeface="Roboto"/>
                <a:cs typeface="Roboto"/>
                <a:sym typeface="Roboto"/>
              </a:rPr>
              <a:t>tentu </a:t>
            </a:r>
            <a:r>
              <a:rPr lang="en-US" sz="3499" spc="-69">
                <a:solidFill>
                  <a:srgbClr val="000000"/>
                </a:solidFill>
                <a:latin typeface="Roboto"/>
                <a:ea typeface="Roboto"/>
                <a:cs typeface="Roboto"/>
                <a:sym typeface="Roboto"/>
              </a:rPr>
              <a:t>a</a:t>
            </a:r>
            <a:r>
              <a:rPr lang="en-US" sz="3499" spc="-69" u="none">
                <a:solidFill>
                  <a:srgbClr val="000000"/>
                </a:solidFill>
                <a:latin typeface="Roboto"/>
                <a:ea typeface="Roboto"/>
                <a:cs typeface="Roboto"/>
                <a:sym typeface="Roboto"/>
              </a:rPr>
              <a:t>tau pe</a:t>
            </a:r>
            <a:r>
              <a:rPr lang="en-US" sz="3499" spc="-69">
                <a:solidFill>
                  <a:srgbClr val="000000"/>
                </a:solidFill>
                <a:latin typeface="Roboto"/>
                <a:ea typeface="Roboto"/>
                <a:cs typeface="Roboto"/>
                <a:sym typeface="Roboto"/>
              </a:rPr>
              <a:t>ng</a:t>
            </a:r>
            <a:r>
              <a:rPr lang="en-US" sz="3499" spc="-69" u="none">
                <a:solidFill>
                  <a:srgbClr val="000000"/>
                </a:solidFill>
                <a:latin typeface="Roboto"/>
                <a:ea typeface="Roboto"/>
                <a:cs typeface="Roboto"/>
                <a:sym typeface="Roboto"/>
              </a:rPr>
              <a:t>olahan d</a:t>
            </a:r>
            <a:r>
              <a:rPr lang="en-US" sz="3499" spc="-69">
                <a:solidFill>
                  <a:srgbClr val="000000"/>
                </a:solidFill>
                <a:latin typeface="Roboto"/>
                <a:ea typeface="Roboto"/>
                <a:cs typeface="Roboto"/>
                <a:sym typeface="Roboto"/>
              </a:rPr>
              <a:t>at</a:t>
            </a:r>
            <a:r>
              <a:rPr lang="en-US" sz="3499" spc="-69" u="none">
                <a:solidFill>
                  <a:srgbClr val="000000"/>
                </a:solidFill>
                <a:latin typeface="Roboto"/>
                <a:ea typeface="Roboto"/>
                <a:cs typeface="Roboto"/>
                <a:sym typeface="Roboto"/>
              </a:rPr>
              <a:t>a</a:t>
            </a:r>
            <a:r>
              <a:rPr lang="en-US" sz="3499" spc="-69">
                <a:solidFill>
                  <a:srgbClr val="000000"/>
                </a:solidFill>
                <a:latin typeface="Roboto"/>
                <a:ea typeface="Roboto"/>
                <a:cs typeface="Roboto"/>
                <a:sym typeface="Roboto"/>
              </a:rPr>
              <a:t> </a:t>
            </a:r>
            <a:r>
              <a:rPr lang="en-US" sz="3499" spc="-69" u="none">
                <a:solidFill>
                  <a:srgbClr val="000000"/>
                </a:solidFill>
                <a:latin typeface="Roboto"/>
                <a:ea typeface="Roboto"/>
                <a:cs typeface="Roboto"/>
                <a:sym typeface="Roboto"/>
              </a:rPr>
              <a:t>b</a:t>
            </a:r>
            <a:r>
              <a:rPr lang="en-US" sz="3499" spc="-69">
                <a:solidFill>
                  <a:srgbClr val="000000"/>
                </a:solidFill>
                <a:latin typeface="Roboto"/>
                <a:ea typeface="Roboto"/>
                <a:cs typeface="Roboto"/>
                <a:sym typeface="Roboto"/>
              </a:rPr>
              <a:t>e</a:t>
            </a:r>
            <a:r>
              <a:rPr lang="en-US" sz="3499" spc="-69" u="none">
                <a:solidFill>
                  <a:srgbClr val="000000"/>
                </a:solidFill>
                <a:latin typeface="Roboto"/>
                <a:ea typeface="Roboto"/>
                <a:cs typeface="Roboto"/>
                <a:sym typeface="Roboto"/>
              </a:rPr>
              <a:t>sa</a:t>
            </a:r>
            <a:r>
              <a:rPr lang="en-US" sz="3499" spc="-69">
                <a:solidFill>
                  <a:srgbClr val="000000"/>
                </a:solidFill>
                <a:latin typeface="Roboto"/>
                <a:ea typeface="Roboto"/>
                <a:cs typeface="Roboto"/>
                <a:sym typeface="Roboto"/>
              </a:rPr>
              <a:t>r.</a:t>
            </a:r>
          </a:p>
        </p:txBody>
      </p:sp>
      <p:sp>
        <p:nvSpPr>
          <p:cNvPr name="Freeform 6" id="6"/>
          <p:cNvSpPr/>
          <p:nvPr/>
        </p:nvSpPr>
        <p:spPr>
          <a:xfrm flipH="false" flipV="false" rot="0">
            <a:off x="1270196" y="1718633"/>
            <a:ext cx="5417517" cy="6849734"/>
          </a:xfrm>
          <a:custGeom>
            <a:avLst/>
            <a:gdLst/>
            <a:ahLst/>
            <a:cxnLst/>
            <a:rect r="r" b="b" t="t" l="l"/>
            <a:pathLst>
              <a:path h="6849734" w="5417517">
                <a:moveTo>
                  <a:pt x="0" y="0"/>
                </a:moveTo>
                <a:lnTo>
                  <a:pt x="5417516" y="0"/>
                </a:lnTo>
                <a:lnTo>
                  <a:pt x="5417516" y="6849734"/>
                </a:lnTo>
                <a:lnTo>
                  <a:pt x="0" y="68497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028700"/>
            <a:ext cx="10130845" cy="2368550"/>
          </a:xfrm>
          <a:prstGeom prst="rect">
            <a:avLst/>
          </a:prstGeom>
        </p:spPr>
        <p:txBody>
          <a:bodyPr anchor="t" rtlCol="false" tIns="0" lIns="0" bIns="0" rIns="0">
            <a:spAutoFit/>
          </a:bodyPr>
          <a:lstStyle/>
          <a:p>
            <a:pPr algn="l" marL="0" indent="0" lvl="0">
              <a:lnSpc>
                <a:spcPts val="8499"/>
              </a:lnSpc>
              <a:spcBef>
                <a:spcPct val="0"/>
              </a:spcBef>
            </a:pPr>
            <a:r>
              <a:rPr lang="en-US" sz="8499">
                <a:solidFill>
                  <a:srgbClr val="FE502D"/>
                </a:solidFill>
                <a:latin typeface="Chunk Five"/>
                <a:ea typeface="Chunk Five"/>
                <a:cs typeface="Chunk Five"/>
                <a:sym typeface="Chunk Five"/>
              </a:rPr>
              <a:t>K</a:t>
            </a:r>
            <a:r>
              <a:rPr lang="en-US" sz="8499" u="none">
                <a:solidFill>
                  <a:srgbClr val="FE502D"/>
                </a:solidFill>
                <a:latin typeface="Chunk Five"/>
                <a:ea typeface="Chunk Five"/>
                <a:cs typeface="Chunk Five"/>
                <a:sym typeface="Chunk Five"/>
              </a:rPr>
              <a:t>arakteristik Hybrid</a:t>
            </a:r>
          </a:p>
        </p:txBody>
      </p:sp>
      <p:sp>
        <p:nvSpPr>
          <p:cNvPr name="TextBox 3" id="3"/>
          <p:cNvSpPr txBox="true"/>
          <p:nvPr/>
        </p:nvSpPr>
        <p:spPr>
          <a:xfrm rot="0">
            <a:off x="1028700" y="6180885"/>
            <a:ext cx="9516777" cy="556895"/>
          </a:xfrm>
          <a:prstGeom prst="rect">
            <a:avLst/>
          </a:prstGeom>
        </p:spPr>
        <p:txBody>
          <a:bodyPr anchor="t" rtlCol="false" tIns="0" lIns="0" bIns="0" rIns="0">
            <a:spAutoFit/>
          </a:bodyPr>
          <a:lstStyle/>
          <a:p>
            <a:pPr algn="l" marL="0" indent="0" lvl="0">
              <a:lnSpc>
                <a:spcPts val="4480"/>
              </a:lnSpc>
              <a:spcBef>
                <a:spcPct val="0"/>
              </a:spcBef>
            </a:pPr>
            <a:r>
              <a:rPr lang="en-US" sz="3200">
                <a:solidFill>
                  <a:srgbClr val="000000"/>
                </a:solidFill>
                <a:latin typeface="Roboto"/>
                <a:ea typeface="Roboto"/>
                <a:cs typeface="Roboto"/>
                <a:sym typeface="Roboto"/>
              </a:rPr>
              <a:t>Da</a:t>
            </a:r>
            <a:r>
              <a:rPr lang="en-US" sz="3200" u="none">
                <a:solidFill>
                  <a:srgbClr val="000000"/>
                </a:solidFill>
                <a:latin typeface="Roboto"/>
                <a:ea typeface="Roboto"/>
                <a:cs typeface="Roboto"/>
                <a:sym typeface="Roboto"/>
              </a:rPr>
              <a:t>ta dan aplikasi dapat berpindah antar lingkungan.</a:t>
            </a:r>
          </a:p>
        </p:txBody>
      </p:sp>
      <p:sp>
        <p:nvSpPr>
          <p:cNvPr name="TextBox 4" id="4"/>
          <p:cNvSpPr txBox="true"/>
          <p:nvPr/>
        </p:nvSpPr>
        <p:spPr>
          <a:xfrm rot="0">
            <a:off x="1028700" y="7071155"/>
            <a:ext cx="8796973" cy="556895"/>
          </a:xfrm>
          <a:prstGeom prst="rect">
            <a:avLst/>
          </a:prstGeom>
        </p:spPr>
        <p:txBody>
          <a:bodyPr anchor="t" rtlCol="false" tIns="0" lIns="0" bIns="0" rIns="0">
            <a:spAutoFit/>
          </a:bodyPr>
          <a:lstStyle/>
          <a:p>
            <a:pPr algn="l" marL="0" indent="0" lvl="0">
              <a:lnSpc>
                <a:spcPts val="4480"/>
              </a:lnSpc>
              <a:spcBef>
                <a:spcPct val="0"/>
              </a:spcBef>
            </a:pPr>
            <a:r>
              <a:rPr lang="en-US" sz="3200">
                <a:solidFill>
                  <a:srgbClr val="000000"/>
                </a:solidFill>
                <a:latin typeface="Roboto"/>
                <a:ea typeface="Roboto"/>
                <a:cs typeface="Roboto"/>
                <a:sym typeface="Roboto"/>
              </a:rPr>
              <a:t>Sumb</a:t>
            </a:r>
            <a:r>
              <a:rPr lang="en-US" sz="3200" u="none">
                <a:solidFill>
                  <a:srgbClr val="000000"/>
                </a:solidFill>
                <a:latin typeface="Roboto"/>
                <a:ea typeface="Roboto"/>
                <a:cs typeface="Roboto"/>
                <a:sym typeface="Roboto"/>
              </a:rPr>
              <a:t>er daya digunakan sesuai kebutuhan.</a:t>
            </a:r>
          </a:p>
        </p:txBody>
      </p:sp>
      <p:sp>
        <p:nvSpPr>
          <p:cNvPr name="Freeform 5" id="5"/>
          <p:cNvSpPr/>
          <p:nvPr/>
        </p:nvSpPr>
        <p:spPr>
          <a:xfrm flipH="false" flipV="false" rot="0">
            <a:off x="12903316" y="3736565"/>
            <a:ext cx="3764819" cy="5521735"/>
          </a:xfrm>
          <a:custGeom>
            <a:avLst/>
            <a:gdLst/>
            <a:ahLst/>
            <a:cxnLst/>
            <a:rect r="r" b="b" t="t" l="l"/>
            <a:pathLst>
              <a:path h="5521735" w="3764819">
                <a:moveTo>
                  <a:pt x="0" y="0"/>
                </a:moveTo>
                <a:lnTo>
                  <a:pt x="3764820" y="0"/>
                </a:lnTo>
                <a:lnTo>
                  <a:pt x="3764820" y="5521735"/>
                </a:lnTo>
                <a:lnTo>
                  <a:pt x="0" y="55217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879380">
            <a:off x="13691997" y="2099365"/>
            <a:ext cx="2187457" cy="1152608"/>
          </a:xfrm>
          <a:custGeom>
            <a:avLst/>
            <a:gdLst/>
            <a:ahLst/>
            <a:cxnLst/>
            <a:rect r="r" b="b" t="t" l="l"/>
            <a:pathLst>
              <a:path h="1152608" w="2187457">
                <a:moveTo>
                  <a:pt x="0" y="0"/>
                </a:moveTo>
                <a:lnTo>
                  <a:pt x="2187457" y="0"/>
                </a:lnTo>
                <a:lnTo>
                  <a:pt x="2187457" y="1152608"/>
                </a:lnTo>
                <a:lnTo>
                  <a:pt x="0" y="11526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5287025"/>
            <a:ext cx="6667551" cy="556896"/>
          </a:xfrm>
          <a:prstGeom prst="rect">
            <a:avLst/>
          </a:prstGeom>
        </p:spPr>
        <p:txBody>
          <a:bodyPr anchor="t" rtlCol="false" tIns="0" lIns="0" bIns="0" rIns="0">
            <a:spAutoFit/>
          </a:bodyPr>
          <a:lstStyle/>
          <a:p>
            <a:pPr algn="l" marL="0" indent="0" lvl="0">
              <a:lnSpc>
                <a:spcPts val="4479"/>
              </a:lnSpc>
              <a:spcBef>
                <a:spcPct val="0"/>
              </a:spcBef>
            </a:pPr>
            <a:r>
              <a:rPr lang="en-US" sz="3199">
                <a:solidFill>
                  <a:srgbClr val="000000"/>
                </a:solidFill>
                <a:latin typeface="Roboto"/>
                <a:ea typeface="Roboto"/>
                <a:cs typeface="Roboto"/>
                <a:sym typeface="Roboto"/>
              </a:rPr>
              <a:t>Bu</a:t>
            </a:r>
            <a:r>
              <a:rPr lang="en-US" sz="3199" u="none">
                <a:solidFill>
                  <a:srgbClr val="000000"/>
                </a:solidFill>
                <a:latin typeface="Roboto"/>
                <a:ea typeface="Roboto"/>
                <a:cs typeface="Roboto"/>
                <a:sym typeface="Roboto"/>
              </a:rPr>
              <a:t>tuh integrasi sistem yang baik.</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DC3C5"/>
        </a:solidFill>
      </p:bgPr>
    </p:bg>
    <p:spTree>
      <p:nvGrpSpPr>
        <p:cNvPr id="1" name=""/>
        <p:cNvGrpSpPr/>
        <p:nvPr/>
      </p:nvGrpSpPr>
      <p:grpSpPr>
        <a:xfrm>
          <a:off x="0" y="0"/>
          <a:ext cx="0" cy="0"/>
          <a:chOff x="0" y="0"/>
          <a:chExt cx="0" cy="0"/>
        </a:xfrm>
      </p:grpSpPr>
      <p:grpSp>
        <p:nvGrpSpPr>
          <p:cNvPr name="Group 2" id="2"/>
          <p:cNvGrpSpPr/>
          <p:nvPr/>
        </p:nvGrpSpPr>
        <p:grpSpPr>
          <a:xfrm rot="0">
            <a:off x="1028700" y="3600450"/>
            <a:ext cx="5019030" cy="5657850"/>
            <a:chOff x="0" y="0"/>
            <a:chExt cx="1697795" cy="1913890"/>
          </a:xfrm>
        </p:grpSpPr>
        <p:sp>
          <p:nvSpPr>
            <p:cNvPr name="Freeform 3" id="3"/>
            <p:cNvSpPr/>
            <p:nvPr/>
          </p:nvSpPr>
          <p:spPr>
            <a:xfrm flipH="false" flipV="false" rot="0">
              <a:off x="0" y="0"/>
              <a:ext cx="1697795" cy="1913890"/>
            </a:xfrm>
            <a:custGeom>
              <a:avLst/>
              <a:gdLst/>
              <a:ahLst/>
              <a:cxnLst/>
              <a:rect r="r" b="b" t="t" l="l"/>
              <a:pathLst>
                <a:path h="1913890" w="1697795">
                  <a:moveTo>
                    <a:pt x="0" y="0"/>
                  </a:moveTo>
                  <a:lnTo>
                    <a:pt x="1697795" y="0"/>
                  </a:lnTo>
                  <a:lnTo>
                    <a:pt x="1697795" y="1913890"/>
                  </a:lnTo>
                  <a:lnTo>
                    <a:pt x="0" y="1913890"/>
                  </a:lnTo>
                  <a:close/>
                </a:path>
              </a:pathLst>
            </a:custGeom>
            <a:solidFill>
              <a:srgbClr val="FFFFFF"/>
            </a:solidFill>
          </p:spPr>
        </p:sp>
      </p:grpSp>
      <p:grpSp>
        <p:nvGrpSpPr>
          <p:cNvPr name="Group 4" id="4"/>
          <p:cNvGrpSpPr/>
          <p:nvPr/>
        </p:nvGrpSpPr>
        <p:grpSpPr>
          <a:xfrm rot="0">
            <a:off x="12240270" y="3600450"/>
            <a:ext cx="5019030" cy="5657850"/>
            <a:chOff x="0" y="0"/>
            <a:chExt cx="1697795" cy="1913890"/>
          </a:xfrm>
        </p:grpSpPr>
        <p:sp>
          <p:nvSpPr>
            <p:cNvPr name="Freeform 5" id="5"/>
            <p:cNvSpPr/>
            <p:nvPr/>
          </p:nvSpPr>
          <p:spPr>
            <a:xfrm flipH="false" flipV="false" rot="0">
              <a:off x="0" y="0"/>
              <a:ext cx="1697795" cy="1913890"/>
            </a:xfrm>
            <a:custGeom>
              <a:avLst/>
              <a:gdLst/>
              <a:ahLst/>
              <a:cxnLst/>
              <a:rect r="r" b="b" t="t" l="l"/>
              <a:pathLst>
                <a:path h="1913890" w="1697795">
                  <a:moveTo>
                    <a:pt x="0" y="0"/>
                  </a:moveTo>
                  <a:lnTo>
                    <a:pt x="1697795" y="0"/>
                  </a:lnTo>
                  <a:lnTo>
                    <a:pt x="1697795" y="1913890"/>
                  </a:lnTo>
                  <a:lnTo>
                    <a:pt x="0" y="1913890"/>
                  </a:lnTo>
                  <a:close/>
                </a:path>
              </a:pathLst>
            </a:custGeom>
            <a:solidFill>
              <a:srgbClr val="FFFFFF"/>
            </a:solidFill>
          </p:spPr>
        </p:sp>
      </p:grpSp>
      <p:sp>
        <p:nvSpPr>
          <p:cNvPr name="TextBox 6" id="6"/>
          <p:cNvSpPr txBox="true"/>
          <p:nvPr/>
        </p:nvSpPr>
        <p:spPr>
          <a:xfrm rot="0">
            <a:off x="1028700" y="1422401"/>
            <a:ext cx="16230600" cy="960989"/>
          </a:xfrm>
          <a:prstGeom prst="rect">
            <a:avLst/>
          </a:prstGeom>
        </p:spPr>
        <p:txBody>
          <a:bodyPr anchor="t" rtlCol="false" tIns="0" lIns="0" bIns="0" rIns="0">
            <a:spAutoFit/>
          </a:bodyPr>
          <a:lstStyle/>
          <a:p>
            <a:pPr algn="ctr" marL="0" indent="0" lvl="0">
              <a:lnSpc>
                <a:spcPts val="7024"/>
              </a:lnSpc>
              <a:spcBef>
                <a:spcPct val="0"/>
              </a:spcBef>
            </a:pPr>
            <a:r>
              <a:rPr lang="en-US" sz="5017">
                <a:solidFill>
                  <a:srgbClr val="000000"/>
                </a:solidFill>
                <a:latin typeface="Chunk Five"/>
                <a:ea typeface="Chunk Five"/>
                <a:cs typeface="Chunk Five"/>
                <a:sym typeface="Chunk Five"/>
              </a:rPr>
              <a:t>Ke</a:t>
            </a:r>
            <a:r>
              <a:rPr lang="en-US" sz="5017">
                <a:solidFill>
                  <a:srgbClr val="000000"/>
                </a:solidFill>
                <a:latin typeface="Chunk Five"/>
                <a:ea typeface="Chunk Five"/>
                <a:cs typeface="Chunk Five"/>
                <a:sym typeface="Chunk Five"/>
              </a:rPr>
              <a:t>untungan Hybrid</a:t>
            </a:r>
          </a:p>
        </p:txBody>
      </p:sp>
      <p:sp>
        <p:nvSpPr>
          <p:cNvPr name="TextBox 7" id="7"/>
          <p:cNvSpPr txBox="true"/>
          <p:nvPr/>
        </p:nvSpPr>
        <p:spPr>
          <a:xfrm rot="0">
            <a:off x="1533002" y="5829300"/>
            <a:ext cx="4010426" cy="1085850"/>
          </a:xfrm>
          <a:prstGeom prst="rect">
            <a:avLst/>
          </a:prstGeom>
        </p:spPr>
        <p:txBody>
          <a:bodyPr anchor="t" rtlCol="false" tIns="0" lIns="0" bIns="0" rIns="0">
            <a:spAutoFit/>
          </a:bodyPr>
          <a:lstStyle/>
          <a:p>
            <a:pPr algn="ctr" marL="0" indent="0" lvl="0">
              <a:lnSpc>
                <a:spcPts val="4199"/>
              </a:lnSpc>
              <a:spcBef>
                <a:spcPct val="0"/>
              </a:spcBef>
            </a:pPr>
            <a:r>
              <a:rPr lang="en-US" sz="2999">
                <a:solidFill>
                  <a:srgbClr val="FE502D"/>
                </a:solidFill>
                <a:latin typeface="Chunk Five"/>
                <a:ea typeface="Chunk Five"/>
                <a:cs typeface="Chunk Five"/>
                <a:sym typeface="Chunk Five"/>
              </a:rPr>
              <a:t>Adaptif terhadap kebutuhan</a:t>
            </a:r>
          </a:p>
        </p:txBody>
      </p:sp>
      <p:grpSp>
        <p:nvGrpSpPr>
          <p:cNvPr name="Group 8" id="8"/>
          <p:cNvGrpSpPr/>
          <p:nvPr/>
        </p:nvGrpSpPr>
        <p:grpSpPr>
          <a:xfrm rot="0">
            <a:off x="6634485" y="3600450"/>
            <a:ext cx="5019030" cy="5657850"/>
            <a:chOff x="0" y="0"/>
            <a:chExt cx="1697795" cy="1913890"/>
          </a:xfrm>
        </p:grpSpPr>
        <p:sp>
          <p:nvSpPr>
            <p:cNvPr name="Freeform 9" id="9"/>
            <p:cNvSpPr/>
            <p:nvPr/>
          </p:nvSpPr>
          <p:spPr>
            <a:xfrm flipH="false" flipV="false" rot="0">
              <a:off x="0" y="0"/>
              <a:ext cx="1697795" cy="1913890"/>
            </a:xfrm>
            <a:custGeom>
              <a:avLst/>
              <a:gdLst/>
              <a:ahLst/>
              <a:cxnLst/>
              <a:rect r="r" b="b" t="t" l="l"/>
              <a:pathLst>
                <a:path h="1913890" w="1697795">
                  <a:moveTo>
                    <a:pt x="0" y="0"/>
                  </a:moveTo>
                  <a:lnTo>
                    <a:pt x="1697795" y="0"/>
                  </a:lnTo>
                  <a:lnTo>
                    <a:pt x="1697795" y="1913890"/>
                  </a:lnTo>
                  <a:lnTo>
                    <a:pt x="0" y="1913890"/>
                  </a:lnTo>
                  <a:close/>
                </a:path>
              </a:pathLst>
            </a:custGeom>
            <a:solidFill>
              <a:srgbClr val="FFFFFF"/>
            </a:solidFill>
          </p:spPr>
        </p:sp>
      </p:grpSp>
      <p:sp>
        <p:nvSpPr>
          <p:cNvPr name="TextBox 10" id="10"/>
          <p:cNvSpPr txBox="true"/>
          <p:nvPr/>
        </p:nvSpPr>
        <p:spPr>
          <a:xfrm rot="0">
            <a:off x="7138787" y="5829300"/>
            <a:ext cx="4010426" cy="1085850"/>
          </a:xfrm>
          <a:prstGeom prst="rect">
            <a:avLst/>
          </a:prstGeom>
        </p:spPr>
        <p:txBody>
          <a:bodyPr anchor="t" rtlCol="false" tIns="0" lIns="0" bIns="0" rIns="0">
            <a:spAutoFit/>
          </a:bodyPr>
          <a:lstStyle/>
          <a:p>
            <a:pPr algn="ctr" marL="0" indent="0" lvl="0">
              <a:lnSpc>
                <a:spcPts val="4199"/>
              </a:lnSpc>
              <a:spcBef>
                <a:spcPct val="0"/>
              </a:spcBef>
            </a:pPr>
            <a:r>
              <a:rPr lang="en-US" sz="2999">
                <a:solidFill>
                  <a:srgbClr val="FE502D"/>
                </a:solidFill>
                <a:latin typeface="Chunk Five"/>
                <a:ea typeface="Chunk Five"/>
                <a:cs typeface="Chunk Five"/>
                <a:sym typeface="Chunk Five"/>
              </a:rPr>
              <a:t>Keamanan Data Sensitif</a:t>
            </a:r>
          </a:p>
        </p:txBody>
      </p:sp>
      <p:sp>
        <p:nvSpPr>
          <p:cNvPr name="TextBox 11" id="11"/>
          <p:cNvSpPr txBox="true"/>
          <p:nvPr/>
        </p:nvSpPr>
        <p:spPr>
          <a:xfrm rot="0">
            <a:off x="12744572" y="6091237"/>
            <a:ext cx="4010426" cy="561975"/>
          </a:xfrm>
          <a:prstGeom prst="rect">
            <a:avLst/>
          </a:prstGeom>
        </p:spPr>
        <p:txBody>
          <a:bodyPr anchor="t" rtlCol="false" tIns="0" lIns="0" bIns="0" rIns="0">
            <a:spAutoFit/>
          </a:bodyPr>
          <a:lstStyle/>
          <a:p>
            <a:pPr algn="ctr" marL="0" indent="0" lvl="0">
              <a:lnSpc>
                <a:spcPts val="4199"/>
              </a:lnSpc>
              <a:spcBef>
                <a:spcPct val="0"/>
              </a:spcBef>
            </a:pPr>
            <a:r>
              <a:rPr lang="en-US" sz="2999">
                <a:solidFill>
                  <a:srgbClr val="FE502D"/>
                </a:solidFill>
                <a:latin typeface="Chunk Five"/>
                <a:ea typeface="Chunk Five"/>
                <a:cs typeface="Chunk Five"/>
                <a:sym typeface="Chunk Five"/>
              </a:rPr>
              <a:t>Efisiensi</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DC3C5"/>
        </a:solidFill>
      </p:bgPr>
    </p:bg>
    <p:spTree>
      <p:nvGrpSpPr>
        <p:cNvPr id="1" name=""/>
        <p:cNvGrpSpPr/>
        <p:nvPr/>
      </p:nvGrpSpPr>
      <p:grpSpPr>
        <a:xfrm>
          <a:off x="0" y="0"/>
          <a:ext cx="0" cy="0"/>
          <a:chOff x="0" y="0"/>
          <a:chExt cx="0" cy="0"/>
        </a:xfrm>
      </p:grpSpPr>
      <p:grpSp>
        <p:nvGrpSpPr>
          <p:cNvPr name="Group 2" id="2"/>
          <p:cNvGrpSpPr/>
          <p:nvPr/>
        </p:nvGrpSpPr>
        <p:grpSpPr>
          <a:xfrm rot="0">
            <a:off x="1028700" y="3600450"/>
            <a:ext cx="5019030" cy="5657850"/>
            <a:chOff x="0" y="0"/>
            <a:chExt cx="1697795" cy="1913890"/>
          </a:xfrm>
        </p:grpSpPr>
        <p:sp>
          <p:nvSpPr>
            <p:cNvPr name="Freeform 3" id="3"/>
            <p:cNvSpPr/>
            <p:nvPr/>
          </p:nvSpPr>
          <p:spPr>
            <a:xfrm flipH="false" flipV="false" rot="0">
              <a:off x="0" y="0"/>
              <a:ext cx="1697795" cy="1913890"/>
            </a:xfrm>
            <a:custGeom>
              <a:avLst/>
              <a:gdLst/>
              <a:ahLst/>
              <a:cxnLst/>
              <a:rect r="r" b="b" t="t" l="l"/>
              <a:pathLst>
                <a:path h="1913890" w="1697795">
                  <a:moveTo>
                    <a:pt x="0" y="0"/>
                  </a:moveTo>
                  <a:lnTo>
                    <a:pt x="1697795" y="0"/>
                  </a:lnTo>
                  <a:lnTo>
                    <a:pt x="1697795" y="1913890"/>
                  </a:lnTo>
                  <a:lnTo>
                    <a:pt x="0" y="1913890"/>
                  </a:lnTo>
                  <a:close/>
                </a:path>
              </a:pathLst>
            </a:custGeom>
            <a:solidFill>
              <a:srgbClr val="FFFFFF"/>
            </a:solidFill>
          </p:spPr>
        </p:sp>
      </p:grpSp>
      <p:grpSp>
        <p:nvGrpSpPr>
          <p:cNvPr name="Group 4" id="4"/>
          <p:cNvGrpSpPr/>
          <p:nvPr/>
        </p:nvGrpSpPr>
        <p:grpSpPr>
          <a:xfrm rot="0">
            <a:off x="12240270" y="3600450"/>
            <a:ext cx="5019030" cy="5657850"/>
            <a:chOff x="0" y="0"/>
            <a:chExt cx="1697795" cy="1913890"/>
          </a:xfrm>
        </p:grpSpPr>
        <p:sp>
          <p:nvSpPr>
            <p:cNvPr name="Freeform 5" id="5"/>
            <p:cNvSpPr/>
            <p:nvPr/>
          </p:nvSpPr>
          <p:spPr>
            <a:xfrm flipH="false" flipV="false" rot="0">
              <a:off x="0" y="0"/>
              <a:ext cx="1697795" cy="1913890"/>
            </a:xfrm>
            <a:custGeom>
              <a:avLst/>
              <a:gdLst/>
              <a:ahLst/>
              <a:cxnLst/>
              <a:rect r="r" b="b" t="t" l="l"/>
              <a:pathLst>
                <a:path h="1913890" w="1697795">
                  <a:moveTo>
                    <a:pt x="0" y="0"/>
                  </a:moveTo>
                  <a:lnTo>
                    <a:pt x="1697795" y="0"/>
                  </a:lnTo>
                  <a:lnTo>
                    <a:pt x="1697795" y="1913890"/>
                  </a:lnTo>
                  <a:lnTo>
                    <a:pt x="0" y="1913890"/>
                  </a:lnTo>
                  <a:close/>
                </a:path>
              </a:pathLst>
            </a:custGeom>
            <a:solidFill>
              <a:srgbClr val="FFFFFF"/>
            </a:solidFill>
          </p:spPr>
        </p:sp>
      </p:grpSp>
      <p:sp>
        <p:nvSpPr>
          <p:cNvPr name="TextBox 6" id="6"/>
          <p:cNvSpPr txBox="true"/>
          <p:nvPr/>
        </p:nvSpPr>
        <p:spPr>
          <a:xfrm rot="0">
            <a:off x="1028700" y="1422401"/>
            <a:ext cx="16230600" cy="960989"/>
          </a:xfrm>
          <a:prstGeom prst="rect">
            <a:avLst/>
          </a:prstGeom>
        </p:spPr>
        <p:txBody>
          <a:bodyPr anchor="t" rtlCol="false" tIns="0" lIns="0" bIns="0" rIns="0">
            <a:spAutoFit/>
          </a:bodyPr>
          <a:lstStyle/>
          <a:p>
            <a:pPr algn="ctr" marL="0" indent="0" lvl="0">
              <a:lnSpc>
                <a:spcPts val="7024"/>
              </a:lnSpc>
              <a:spcBef>
                <a:spcPct val="0"/>
              </a:spcBef>
            </a:pPr>
            <a:r>
              <a:rPr lang="en-US" sz="5017">
                <a:solidFill>
                  <a:srgbClr val="000000"/>
                </a:solidFill>
                <a:latin typeface="Chunk Five"/>
                <a:ea typeface="Chunk Five"/>
                <a:cs typeface="Chunk Five"/>
                <a:sym typeface="Chunk Five"/>
              </a:rPr>
              <a:t>Ke</a:t>
            </a:r>
            <a:r>
              <a:rPr lang="en-US" sz="5017">
                <a:solidFill>
                  <a:srgbClr val="000000"/>
                </a:solidFill>
                <a:latin typeface="Chunk Five"/>
                <a:ea typeface="Chunk Five"/>
                <a:cs typeface="Chunk Five"/>
                <a:sym typeface="Chunk Five"/>
              </a:rPr>
              <a:t>untungan Hybrid</a:t>
            </a:r>
          </a:p>
        </p:txBody>
      </p:sp>
      <p:sp>
        <p:nvSpPr>
          <p:cNvPr name="TextBox 7" id="7"/>
          <p:cNvSpPr txBox="true"/>
          <p:nvPr/>
        </p:nvSpPr>
        <p:spPr>
          <a:xfrm rot="0">
            <a:off x="1533002" y="5774690"/>
            <a:ext cx="4010426" cy="1176021"/>
          </a:xfrm>
          <a:prstGeom prst="rect">
            <a:avLst/>
          </a:prstGeom>
        </p:spPr>
        <p:txBody>
          <a:bodyPr anchor="t" rtlCol="false" tIns="0" lIns="0" bIns="0" rIns="0">
            <a:spAutoFit/>
          </a:bodyPr>
          <a:lstStyle/>
          <a:p>
            <a:pPr algn="ctr" marL="0" indent="0" lvl="0">
              <a:lnSpc>
                <a:spcPts val="4479"/>
              </a:lnSpc>
              <a:spcBef>
                <a:spcPct val="0"/>
              </a:spcBef>
            </a:pPr>
            <a:r>
              <a:rPr lang="en-US" sz="3199">
                <a:solidFill>
                  <a:srgbClr val="FE502D"/>
                </a:solidFill>
                <a:latin typeface="Chunk Five"/>
                <a:ea typeface="Chunk Five"/>
                <a:cs typeface="Chunk Five"/>
                <a:sym typeface="Chunk Five"/>
              </a:rPr>
              <a:t>Pengelolaan Kompleks</a:t>
            </a:r>
          </a:p>
        </p:txBody>
      </p:sp>
      <p:grpSp>
        <p:nvGrpSpPr>
          <p:cNvPr name="Group 8" id="8"/>
          <p:cNvGrpSpPr/>
          <p:nvPr/>
        </p:nvGrpSpPr>
        <p:grpSpPr>
          <a:xfrm rot="0">
            <a:off x="6634485" y="3600450"/>
            <a:ext cx="5019030" cy="5657850"/>
            <a:chOff x="0" y="0"/>
            <a:chExt cx="1697795" cy="1913890"/>
          </a:xfrm>
        </p:grpSpPr>
        <p:sp>
          <p:nvSpPr>
            <p:cNvPr name="Freeform 9" id="9"/>
            <p:cNvSpPr/>
            <p:nvPr/>
          </p:nvSpPr>
          <p:spPr>
            <a:xfrm flipH="false" flipV="false" rot="0">
              <a:off x="0" y="0"/>
              <a:ext cx="1697795" cy="1913890"/>
            </a:xfrm>
            <a:custGeom>
              <a:avLst/>
              <a:gdLst/>
              <a:ahLst/>
              <a:cxnLst/>
              <a:rect r="r" b="b" t="t" l="l"/>
              <a:pathLst>
                <a:path h="1913890" w="1697795">
                  <a:moveTo>
                    <a:pt x="0" y="0"/>
                  </a:moveTo>
                  <a:lnTo>
                    <a:pt x="1697795" y="0"/>
                  </a:lnTo>
                  <a:lnTo>
                    <a:pt x="1697795" y="1913890"/>
                  </a:lnTo>
                  <a:lnTo>
                    <a:pt x="0" y="1913890"/>
                  </a:lnTo>
                  <a:close/>
                </a:path>
              </a:pathLst>
            </a:custGeom>
            <a:solidFill>
              <a:srgbClr val="FFFFFF"/>
            </a:solidFill>
          </p:spPr>
        </p:sp>
      </p:grpSp>
      <p:sp>
        <p:nvSpPr>
          <p:cNvPr name="TextBox 10" id="10"/>
          <p:cNvSpPr txBox="true"/>
          <p:nvPr/>
        </p:nvSpPr>
        <p:spPr>
          <a:xfrm rot="0">
            <a:off x="7138787" y="6055677"/>
            <a:ext cx="4010426" cy="614046"/>
          </a:xfrm>
          <a:prstGeom prst="rect">
            <a:avLst/>
          </a:prstGeom>
        </p:spPr>
        <p:txBody>
          <a:bodyPr anchor="t" rtlCol="false" tIns="0" lIns="0" bIns="0" rIns="0">
            <a:spAutoFit/>
          </a:bodyPr>
          <a:lstStyle/>
          <a:p>
            <a:pPr algn="ctr" marL="0" indent="0" lvl="0">
              <a:lnSpc>
                <a:spcPts val="4479"/>
              </a:lnSpc>
              <a:spcBef>
                <a:spcPct val="0"/>
              </a:spcBef>
            </a:pPr>
            <a:r>
              <a:rPr lang="en-US" sz="3199">
                <a:solidFill>
                  <a:srgbClr val="FE502D"/>
                </a:solidFill>
                <a:latin typeface="Chunk Five"/>
                <a:ea typeface="Chunk Five"/>
                <a:cs typeface="Chunk Five"/>
                <a:sym typeface="Chunk Five"/>
              </a:rPr>
              <a:t>Keamanan Ganda</a:t>
            </a:r>
          </a:p>
        </p:txBody>
      </p:sp>
      <p:sp>
        <p:nvSpPr>
          <p:cNvPr name="TextBox 11" id="11"/>
          <p:cNvSpPr txBox="true"/>
          <p:nvPr/>
        </p:nvSpPr>
        <p:spPr>
          <a:xfrm rot="0">
            <a:off x="12744572" y="5774690"/>
            <a:ext cx="4010426" cy="1176021"/>
          </a:xfrm>
          <a:prstGeom prst="rect">
            <a:avLst/>
          </a:prstGeom>
        </p:spPr>
        <p:txBody>
          <a:bodyPr anchor="t" rtlCol="false" tIns="0" lIns="0" bIns="0" rIns="0">
            <a:spAutoFit/>
          </a:bodyPr>
          <a:lstStyle/>
          <a:p>
            <a:pPr algn="ctr" marL="0" indent="0" lvl="0">
              <a:lnSpc>
                <a:spcPts val="4479"/>
              </a:lnSpc>
              <a:spcBef>
                <a:spcPct val="0"/>
              </a:spcBef>
            </a:pPr>
            <a:r>
              <a:rPr lang="en-US" sz="3199">
                <a:solidFill>
                  <a:srgbClr val="FE502D"/>
                </a:solidFill>
                <a:latin typeface="Chunk Five"/>
                <a:ea typeface="Chunk Five"/>
                <a:cs typeface="Chunk Five"/>
                <a:sym typeface="Chunk Five"/>
              </a:rPr>
              <a:t>Ketergantungan pada integrasi</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DC3C5"/>
        </a:solidFill>
      </p:bgPr>
    </p:bg>
    <p:spTree>
      <p:nvGrpSpPr>
        <p:cNvPr id="1" name=""/>
        <p:cNvGrpSpPr/>
        <p:nvPr/>
      </p:nvGrpSpPr>
      <p:grpSpPr>
        <a:xfrm>
          <a:off x="0" y="0"/>
          <a:ext cx="0" cy="0"/>
          <a:chOff x="0" y="0"/>
          <a:chExt cx="0" cy="0"/>
        </a:xfrm>
      </p:grpSpPr>
      <p:sp>
        <p:nvSpPr>
          <p:cNvPr name="AutoShape 2" id="2"/>
          <p:cNvSpPr/>
          <p:nvPr/>
        </p:nvSpPr>
        <p:spPr>
          <a:xfrm rot="0">
            <a:off x="0" y="0"/>
            <a:ext cx="18288000" cy="2784010"/>
          </a:xfrm>
          <a:prstGeom prst="rect">
            <a:avLst/>
          </a:prstGeom>
          <a:solidFill>
            <a:srgbClr val="FFFFFF"/>
          </a:solidFill>
        </p:spPr>
      </p:sp>
      <p:sp>
        <p:nvSpPr>
          <p:cNvPr name="TextBox 3" id="3"/>
          <p:cNvSpPr txBox="true"/>
          <p:nvPr/>
        </p:nvSpPr>
        <p:spPr>
          <a:xfrm rot="0">
            <a:off x="1366297" y="631619"/>
            <a:ext cx="15555406" cy="1809750"/>
          </a:xfrm>
          <a:prstGeom prst="rect">
            <a:avLst/>
          </a:prstGeom>
        </p:spPr>
        <p:txBody>
          <a:bodyPr anchor="t" rtlCol="false" tIns="0" lIns="0" bIns="0" rIns="0">
            <a:spAutoFit/>
          </a:bodyPr>
          <a:lstStyle/>
          <a:p>
            <a:pPr algn="l" marL="0" indent="0" lvl="0">
              <a:lnSpc>
                <a:spcPts val="6300"/>
              </a:lnSpc>
              <a:spcBef>
                <a:spcPct val="0"/>
              </a:spcBef>
            </a:pPr>
            <a:r>
              <a:rPr lang="en-US" sz="7000">
                <a:solidFill>
                  <a:srgbClr val="FE502D"/>
                </a:solidFill>
                <a:latin typeface="Chunk Five"/>
                <a:ea typeface="Chunk Five"/>
                <a:cs typeface="Chunk Five"/>
                <a:sym typeface="Chunk Five"/>
              </a:rPr>
              <a:t>S</a:t>
            </a:r>
            <a:r>
              <a:rPr lang="en-US" sz="7000" u="none">
                <a:solidFill>
                  <a:srgbClr val="FE502D"/>
                </a:solidFill>
                <a:latin typeface="Chunk Five"/>
                <a:ea typeface="Chunk Five"/>
                <a:cs typeface="Chunk Five"/>
                <a:sym typeface="Chunk Five"/>
              </a:rPr>
              <a:t>tudi Kasus 1 – Perusahaan Perbankan (On-Premises + Hybrid)</a:t>
            </a:r>
          </a:p>
        </p:txBody>
      </p:sp>
      <p:sp>
        <p:nvSpPr>
          <p:cNvPr name="TextBox 4" id="4"/>
          <p:cNvSpPr txBox="true"/>
          <p:nvPr/>
        </p:nvSpPr>
        <p:spPr>
          <a:xfrm rot="0">
            <a:off x="416791" y="2852420"/>
            <a:ext cx="17454418" cy="7434580"/>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000000"/>
                </a:solidFill>
                <a:latin typeface="Roboto"/>
                <a:ea typeface="Roboto"/>
                <a:cs typeface="Roboto"/>
                <a:sym typeface="Roboto"/>
              </a:rPr>
              <a:t>Nama </a:t>
            </a:r>
            <a:r>
              <a:rPr lang="en-US" sz="2799" u="none">
                <a:solidFill>
                  <a:srgbClr val="000000"/>
                </a:solidFill>
                <a:latin typeface="Roboto"/>
                <a:ea typeface="Roboto"/>
                <a:cs typeface="Roboto"/>
                <a:sym typeface="Roboto"/>
              </a:rPr>
              <a:t>Perusahaan: Bank Nasional Indonesia (Contoh Umum untuk Sektor Keuangan)</a:t>
            </a:r>
          </a:p>
          <a:p>
            <a:pPr algn="l" marL="0" indent="0" lvl="0">
              <a:lnSpc>
                <a:spcPts val="3919"/>
              </a:lnSpc>
              <a:spcBef>
                <a:spcPct val="0"/>
              </a:spcBef>
            </a:pPr>
            <a:r>
              <a:rPr lang="en-US" sz="2799" u="none">
                <a:solidFill>
                  <a:srgbClr val="000000"/>
                </a:solidFill>
                <a:latin typeface="Roboto"/>
                <a:ea typeface="Roboto"/>
                <a:cs typeface="Roboto"/>
                <a:sym typeface="Roboto"/>
              </a:rPr>
              <a:t>Kondisi:</a:t>
            </a:r>
          </a:p>
          <a:p>
            <a:pPr algn="l" marL="0" indent="0" lvl="0">
              <a:lnSpc>
                <a:spcPts val="3919"/>
              </a:lnSpc>
              <a:spcBef>
                <a:spcPct val="0"/>
              </a:spcBef>
            </a:pPr>
            <a:r>
              <a:rPr lang="en-US" sz="2799" u="none">
                <a:solidFill>
                  <a:srgbClr val="000000"/>
                </a:solidFill>
                <a:latin typeface="Roboto"/>
                <a:ea typeface="Roboto"/>
                <a:cs typeface="Roboto"/>
                <a:sym typeface="Roboto"/>
              </a:rPr>
              <a:t>Bank memiliki data sensitif seperti informasi rekening, transaksi keuangan, dan identitas nasabah. Regulasi dari OJK (Otoritas Jasa Keuangan) juga mewajibkan data nasabah tetap berada di dalam negeri dan tidak boleh disimpan di cloud publik sembarangan.</a:t>
            </a:r>
          </a:p>
          <a:p>
            <a:pPr algn="l" marL="0" indent="0" lvl="0">
              <a:lnSpc>
                <a:spcPts val="3919"/>
              </a:lnSpc>
              <a:spcBef>
                <a:spcPct val="0"/>
              </a:spcBef>
            </a:pPr>
            <a:r>
              <a:rPr lang="en-US" sz="2799" u="none">
                <a:solidFill>
                  <a:srgbClr val="000000"/>
                </a:solidFill>
                <a:latin typeface="Roboto"/>
                <a:ea typeface="Roboto"/>
                <a:cs typeface="Roboto"/>
                <a:sym typeface="Roboto"/>
              </a:rPr>
              <a:t> Solusi:</a:t>
            </a:r>
          </a:p>
          <a:p>
            <a:pPr algn="l" marL="604519" indent="-302260" lvl="1">
              <a:lnSpc>
                <a:spcPts val="3919"/>
              </a:lnSpc>
              <a:spcBef>
                <a:spcPct val="0"/>
              </a:spcBef>
              <a:buFont typeface="Arial"/>
              <a:buChar char="•"/>
            </a:pPr>
            <a:r>
              <a:rPr lang="en-US" sz="2799" u="none">
                <a:solidFill>
                  <a:srgbClr val="000000"/>
                </a:solidFill>
                <a:latin typeface="Roboto"/>
                <a:ea typeface="Roboto"/>
                <a:cs typeface="Roboto"/>
                <a:sym typeface="Roboto"/>
              </a:rPr>
              <a:t>Menggunakan Infrastruktur On-Premises untuk sistem inti perbankan (core banking system).</a:t>
            </a:r>
          </a:p>
          <a:p>
            <a:pPr algn="l" marL="604519" indent="-302260" lvl="1">
              <a:lnSpc>
                <a:spcPts val="3919"/>
              </a:lnSpc>
              <a:spcBef>
                <a:spcPct val="0"/>
              </a:spcBef>
              <a:buFont typeface="Arial"/>
              <a:buChar char="•"/>
            </a:pPr>
            <a:r>
              <a:rPr lang="en-US" sz="2799" u="none">
                <a:solidFill>
                  <a:srgbClr val="000000"/>
                </a:solidFill>
                <a:latin typeface="Roboto"/>
                <a:ea typeface="Roboto"/>
                <a:cs typeface="Roboto"/>
                <a:sym typeface="Roboto"/>
              </a:rPr>
              <a:t>Menggunakan Cloud (Hybrid) untuk sistem non-kritis seperti:</a:t>
            </a:r>
          </a:p>
          <a:p>
            <a:pPr algn="l" marL="1209039" indent="-403013" lvl="2">
              <a:lnSpc>
                <a:spcPts val="3919"/>
              </a:lnSpc>
              <a:spcBef>
                <a:spcPct val="0"/>
              </a:spcBef>
              <a:buFont typeface="Arial"/>
              <a:buChar char="⚬"/>
            </a:pPr>
            <a:r>
              <a:rPr lang="en-US" sz="2799" u="none">
                <a:solidFill>
                  <a:srgbClr val="000000"/>
                </a:solidFill>
                <a:latin typeface="Roboto"/>
                <a:ea typeface="Roboto"/>
                <a:cs typeface="Roboto"/>
                <a:sym typeface="Roboto"/>
              </a:rPr>
              <a:t>Pengiriman notifikasi SMS/email</a:t>
            </a:r>
          </a:p>
          <a:p>
            <a:pPr algn="l" marL="1209039" indent="-403013" lvl="2">
              <a:lnSpc>
                <a:spcPts val="3919"/>
              </a:lnSpc>
              <a:spcBef>
                <a:spcPct val="0"/>
              </a:spcBef>
              <a:buFont typeface="Arial"/>
              <a:buChar char="⚬"/>
            </a:pPr>
            <a:r>
              <a:rPr lang="en-US" sz="2799" u="none">
                <a:solidFill>
                  <a:srgbClr val="000000"/>
                </a:solidFill>
                <a:latin typeface="Roboto"/>
                <a:ea typeface="Roboto"/>
                <a:cs typeface="Roboto"/>
                <a:sym typeface="Roboto"/>
              </a:rPr>
              <a:t>Layanan chatbot atau web customer service</a:t>
            </a:r>
          </a:p>
          <a:p>
            <a:pPr algn="l" marL="0" indent="0" lvl="0">
              <a:lnSpc>
                <a:spcPts val="3919"/>
              </a:lnSpc>
              <a:spcBef>
                <a:spcPct val="0"/>
              </a:spcBef>
            </a:pPr>
            <a:r>
              <a:rPr lang="en-US" sz="2799" u="none">
                <a:solidFill>
                  <a:srgbClr val="000000"/>
                </a:solidFill>
                <a:latin typeface="Roboto"/>
                <a:ea typeface="Roboto"/>
                <a:cs typeface="Roboto"/>
                <a:sym typeface="Roboto"/>
              </a:rPr>
              <a:t> Hasil:</a:t>
            </a:r>
          </a:p>
          <a:p>
            <a:pPr algn="l" marL="604519" indent="-302260" lvl="1">
              <a:lnSpc>
                <a:spcPts val="3919"/>
              </a:lnSpc>
              <a:spcBef>
                <a:spcPct val="0"/>
              </a:spcBef>
              <a:buFont typeface="Arial"/>
              <a:buChar char="•"/>
            </a:pPr>
            <a:r>
              <a:rPr lang="en-US" sz="2799" u="none">
                <a:solidFill>
                  <a:srgbClr val="000000"/>
                </a:solidFill>
                <a:latin typeface="Roboto"/>
                <a:ea typeface="Roboto"/>
                <a:cs typeface="Roboto"/>
                <a:sym typeface="Roboto"/>
              </a:rPr>
              <a:t>Keamanan data tetap terjaga sesuai regulasi.</a:t>
            </a:r>
          </a:p>
          <a:p>
            <a:pPr algn="l" marL="604519" indent="-302260" lvl="1">
              <a:lnSpc>
                <a:spcPts val="3919"/>
              </a:lnSpc>
              <a:spcBef>
                <a:spcPct val="0"/>
              </a:spcBef>
              <a:buFont typeface="Arial"/>
              <a:buChar char="•"/>
            </a:pPr>
            <a:r>
              <a:rPr lang="en-US" sz="2799" u="none">
                <a:solidFill>
                  <a:srgbClr val="000000"/>
                </a:solidFill>
                <a:latin typeface="Roboto"/>
                <a:ea typeface="Roboto"/>
                <a:cs typeface="Roboto"/>
                <a:sym typeface="Roboto"/>
              </a:rPr>
              <a:t>Biaya operasional untuk layanan tambahan dapat ditekan.</a:t>
            </a:r>
          </a:p>
          <a:p>
            <a:pPr algn="l" marL="604519" indent="-302260" lvl="1">
              <a:lnSpc>
                <a:spcPts val="3919"/>
              </a:lnSpc>
              <a:spcBef>
                <a:spcPct val="0"/>
              </a:spcBef>
              <a:buFont typeface="Arial"/>
              <a:buChar char="•"/>
            </a:pPr>
            <a:r>
              <a:rPr lang="en-US" sz="2799" u="none">
                <a:solidFill>
                  <a:srgbClr val="000000"/>
                </a:solidFill>
                <a:latin typeface="Roboto"/>
                <a:ea typeface="Roboto"/>
                <a:cs typeface="Roboto"/>
                <a:sym typeface="Roboto"/>
              </a:rPr>
              <a:t>Layanan non-kritis dapat diskalakan lebih cepat.</a:t>
            </a:r>
          </a:p>
          <a:p>
            <a:pPr algn="l" marL="0" indent="0" lvl="0">
              <a:lnSpc>
                <a:spcPts val="3919"/>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DC3C5"/>
        </a:solidFill>
      </p:bgPr>
    </p:bg>
    <p:spTree>
      <p:nvGrpSpPr>
        <p:cNvPr id="1" name=""/>
        <p:cNvGrpSpPr/>
        <p:nvPr/>
      </p:nvGrpSpPr>
      <p:grpSpPr>
        <a:xfrm>
          <a:off x="0" y="0"/>
          <a:ext cx="0" cy="0"/>
          <a:chOff x="0" y="0"/>
          <a:chExt cx="0" cy="0"/>
        </a:xfrm>
      </p:grpSpPr>
      <p:sp>
        <p:nvSpPr>
          <p:cNvPr name="AutoShape 2" id="2"/>
          <p:cNvSpPr/>
          <p:nvPr/>
        </p:nvSpPr>
        <p:spPr>
          <a:xfrm rot="0">
            <a:off x="0" y="0"/>
            <a:ext cx="18288000" cy="2784010"/>
          </a:xfrm>
          <a:prstGeom prst="rect">
            <a:avLst/>
          </a:prstGeom>
          <a:solidFill>
            <a:srgbClr val="FFFFFF"/>
          </a:solidFill>
        </p:spPr>
      </p:sp>
      <p:sp>
        <p:nvSpPr>
          <p:cNvPr name="TextBox 3" id="3"/>
          <p:cNvSpPr txBox="true"/>
          <p:nvPr/>
        </p:nvSpPr>
        <p:spPr>
          <a:xfrm rot="0">
            <a:off x="1366297" y="631619"/>
            <a:ext cx="15555406" cy="1809750"/>
          </a:xfrm>
          <a:prstGeom prst="rect">
            <a:avLst/>
          </a:prstGeom>
        </p:spPr>
        <p:txBody>
          <a:bodyPr anchor="t" rtlCol="false" tIns="0" lIns="0" bIns="0" rIns="0">
            <a:spAutoFit/>
          </a:bodyPr>
          <a:lstStyle/>
          <a:p>
            <a:pPr algn="l" marL="0" indent="0" lvl="0">
              <a:lnSpc>
                <a:spcPts val="6300"/>
              </a:lnSpc>
              <a:spcBef>
                <a:spcPct val="0"/>
              </a:spcBef>
            </a:pPr>
            <a:r>
              <a:rPr lang="en-US" sz="7000">
                <a:solidFill>
                  <a:srgbClr val="FE502D"/>
                </a:solidFill>
                <a:latin typeface="Chunk Five"/>
                <a:ea typeface="Chunk Five"/>
                <a:cs typeface="Chunk Five"/>
                <a:sym typeface="Chunk Five"/>
              </a:rPr>
              <a:t>S</a:t>
            </a:r>
            <a:r>
              <a:rPr lang="en-US" sz="7000" u="none">
                <a:solidFill>
                  <a:srgbClr val="FE502D"/>
                </a:solidFill>
                <a:latin typeface="Chunk Five"/>
                <a:ea typeface="Chunk Five"/>
                <a:cs typeface="Chunk Five"/>
                <a:sym typeface="Chunk Five"/>
              </a:rPr>
              <a:t>tudi Kasus 2 – Perusahaan Startup Teknologi (Cloud)</a:t>
            </a:r>
          </a:p>
        </p:txBody>
      </p:sp>
      <p:sp>
        <p:nvSpPr>
          <p:cNvPr name="TextBox 4" id="4"/>
          <p:cNvSpPr txBox="true"/>
          <p:nvPr/>
        </p:nvSpPr>
        <p:spPr>
          <a:xfrm rot="0">
            <a:off x="401795" y="3037721"/>
            <a:ext cx="17484410" cy="7434580"/>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000000"/>
                </a:solidFill>
                <a:latin typeface="Roboto"/>
                <a:ea typeface="Roboto"/>
                <a:cs typeface="Roboto"/>
                <a:sym typeface="Roboto"/>
              </a:rPr>
              <a:t>Nama </a:t>
            </a:r>
            <a:r>
              <a:rPr lang="en-US" sz="2799" u="none">
                <a:solidFill>
                  <a:srgbClr val="000000"/>
                </a:solidFill>
                <a:latin typeface="Roboto"/>
                <a:ea typeface="Roboto"/>
                <a:cs typeface="Roboto"/>
                <a:sym typeface="Roboto"/>
              </a:rPr>
              <a:t>Perusahaan: Gojek / Tokopedia (Studi Modern Teknologi Cloud)</a:t>
            </a:r>
          </a:p>
          <a:p>
            <a:pPr algn="l" marL="0" indent="0" lvl="0">
              <a:lnSpc>
                <a:spcPts val="3919"/>
              </a:lnSpc>
              <a:spcBef>
                <a:spcPct val="0"/>
              </a:spcBef>
            </a:pPr>
            <a:r>
              <a:rPr lang="en-US" sz="2799" u="none">
                <a:solidFill>
                  <a:srgbClr val="000000"/>
                </a:solidFill>
                <a:latin typeface="Roboto"/>
                <a:ea typeface="Roboto"/>
                <a:cs typeface="Roboto"/>
                <a:sym typeface="Roboto"/>
              </a:rPr>
              <a:t> Kondisi:</a:t>
            </a:r>
          </a:p>
          <a:p>
            <a:pPr algn="l" marL="604519" indent="-302260" lvl="1">
              <a:lnSpc>
                <a:spcPts val="3919"/>
              </a:lnSpc>
              <a:spcBef>
                <a:spcPct val="0"/>
              </a:spcBef>
              <a:buFont typeface="Arial"/>
              <a:buChar char="•"/>
            </a:pPr>
            <a:r>
              <a:rPr lang="en-US" sz="2799" u="none">
                <a:solidFill>
                  <a:srgbClr val="000000"/>
                </a:solidFill>
                <a:latin typeface="Roboto"/>
                <a:ea typeface="Roboto"/>
                <a:cs typeface="Roboto"/>
                <a:sym typeface="Roboto"/>
              </a:rPr>
              <a:t>Perusahaan membutuhkan platform digital yang selalu tersedia, handal, dan bisa menangani lonjakan trafik saat promosi besar (misalnya saat Harbolnas atau GoFood Festival).</a:t>
            </a:r>
          </a:p>
          <a:p>
            <a:pPr algn="l" marL="604519" indent="-302260" lvl="1">
              <a:lnSpc>
                <a:spcPts val="3919"/>
              </a:lnSpc>
              <a:spcBef>
                <a:spcPct val="0"/>
              </a:spcBef>
              <a:buFont typeface="Arial"/>
              <a:buChar char="•"/>
            </a:pPr>
            <a:r>
              <a:rPr lang="en-US" sz="2799" u="none">
                <a:solidFill>
                  <a:srgbClr val="000000"/>
                </a:solidFill>
                <a:latin typeface="Roboto"/>
                <a:ea typeface="Roboto"/>
                <a:cs typeface="Roboto"/>
                <a:sym typeface="Roboto"/>
              </a:rPr>
              <a:t>Tidak memungkinkan membangun infrastruktur server sendiri karena membutuhkan waktu dan biaya besar.</a:t>
            </a:r>
          </a:p>
          <a:p>
            <a:pPr algn="l" marL="0" indent="0" lvl="0">
              <a:lnSpc>
                <a:spcPts val="3919"/>
              </a:lnSpc>
              <a:spcBef>
                <a:spcPct val="0"/>
              </a:spcBef>
            </a:pPr>
            <a:r>
              <a:rPr lang="en-US" sz="2799" u="none">
                <a:solidFill>
                  <a:srgbClr val="000000"/>
                </a:solidFill>
                <a:latin typeface="Roboto"/>
                <a:ea typeface="Roboto"/>
                <a:cs typeface="Roboto"/>
                <a:sym typeface="Roboto"/>
              </a:rPr>
              <a:t>Solusi:</a:t>
            </a:r>
          </a:p>
          <a:p>
            <a:pPr algn="l" marL="604519" indent="-302260" lvl="1">
              <a:lnSpc>
                <a:spcPts val="3919"/>
              </a:lnSpc>
              <a:spcBef>
                <a:spcPct val="0"/>
              </a:spcBef>
              <a:buFont typeface="Arial"/>
              <a:buChar char="•"/>
            </a:pPr>
            <a:r>
              <a:rPr lang="en-US" sz="2799" u="none">
                <a:solidFill>
                  <a:srgbClr val="000000"/>
                </a:solidFill>
                <a:latin typeface="Roboto"/>
                <a:ea typeface="Roboto"/>
                <a:cs typeface="Roboto"/>
                <a:sym typeface="Roboto"/>
              </a:rPr>
              <a:t>Menggunakan Infrastruktur Cloud sepenuhnya.</a:t>
            </a:r>
          </a:p>
          <a:p>
            <a:pPr algn="l" marL="1209039" indent="-403013" lvl="2">
              <a:lnSpc>
                <a:spcPts val="3919"/>
              </a:lnSpc>
              <a:spcBef>
                <a:spcPct val="0"/>
              </a:spcBef>
              <a:buFont typeface="Arial"/>
              <a:buChar char="⚬"/>
            </a:pPr>
            <a:r>
              <a:rPr lang="en-US" sz="2799" u="none">
                <a:solidFill>
                  <a:srgbClr val="000000"/>
                </a:solidFill>
                <a:latin typeface="Roboto"/>
                <a:ea typeface="Roboto"/>
                <a:cs typeface="Roboto"/>
                <a:sym typeface="Roboto"/>
              </a:rPr>
              <a:t>AWS d</a:t>
            </a:r>
            <a:r>
              <a:rPr lang="en-US" sz="2799" u="none">
                <a:solidFill>
                  <a:srgbClr val="000000"/>
                </a:solidFill>
                <a:latin typeface="Roboto"/>
                <a:ea typeface="Roboto"/>
                <a:cs typeface="Roboto"/>
                <a:sym typeface="Roboto"/>
              </a:rPr>
              <a:t>an Google Cloud digunakan untuk hosting aplikasi, manajemen data, dan deployment fitur baru.</a:t>
            </a:r>
          </a:p>
          <a:p>
            <a:pPr algn="l" marL="1209039" indent="-403013" lvl="2">
              <a:lnSpc>
                <a:spcPts val="3919"/>
              </a:lnSpc>
              <a:spcBef>
                <a:spcPct val="0"/>
              </a:spcBef>
              <a:buFont typeface="Arial"/>
              <a:buChar char="⚬"/>
            </a:pPr>
            <a:r>
              <a:rPr lang="en-US" sz="2799" u="none">
                <a:solidFill>
                  <a:srgbClr val="000000"/>
                </a:solidFill>
                <a:latin typeface="Roboto"/>
                <a:ea typeface="Roboto"/>
                <a:cs typeface="Roboto"/>
                <a:sym typeface="Roboto"/>
              </a:rPr>
              <a:t>S</a:t>
            </a:r>
            <a:r>
              <a:rPr lang="en-US" sz="2799" u="none">
                <a:solidFill>
                  <a:srgbClr val="000000"/>
                </a:solidFill>
                <a:latin typeface="Roboto"/>
                <a:ea typeface="Roboto"/>
                <a:cs typeface="Roboto"/>
                <a:sym typeface="Roboto"/>
              </a:rPr>
              <a:t>istem auto-scaling disiapkan untuk menangani lonjakan pengguna.</a:t>
            </a:r>
          </a:p>
          <a:p>
            <a:pPr algn="l" marL="0" indent="0" lvl="0">
              <a:lnSpc>
                <a:spcPts val="3919"/>
              </a:lnSpc>
              <a:spcBef>
                <a:spcPct val="0"/>
              </a:spcBef>
            </a:pPr>
            <a:r>
              <a:rPr lang="en-US" sz="2799" u="none">
                <a:solidFill>
                  <a:srgbClr val="000000"/>
                </a:solidFill>
                <a:latin typeface="Roboto"/>
                <a:ea typeface="Roboto"/>
                <a:cs typeface="Roboto"/>
                <a:sym typeface="Roboto"/>
              </a:rPr>
              <a:t> Hasil:</a:t>
            </a:r>
          </a:p>
          <a:p>
            <a:pPr algn="l" marL="604519" indent="-302260" lvl="1">
              <a:lnSpc>
                <a:spcPts val="3919"/>
              </a:lnSpc>
              <a:spcBef>
                <a:spcPct val="0"/>
              </a:spcBef>
              <a:buFont typeface="Arial"/>
              <a:buChar char="•"/>
            </a:pPr>
            <a:r>
              <a:rPr lang="en-US" sz="2799" u="none">
                <a:solidFill>
                  <a:srgbClr val="000000"/>
                </a:solidFill>
                <a:latin typeface="Roboto"/>
                <a:ea typeface="Roboto"/>
                <a:cs typeface="Roboto"/>
                <a:sym typeface="Roboto"/>
              </a:rPr>
              <a:t>Skalabilitas tinggi saat event besar.</a:t>
            </a:r>
          </a:p>
          <a:p>
            <a:pPr algn="l" marL="604519" indent="-302260" lvl="1">
              <a:lnSpc>
                <a:spcPts val="3919"/>
              </a:lnSpc>
              <a:spcBef>
                <a:spcPct val="0"/>
              </a:spcBef>
              <a:buFont typeface="Arial"/>
              <a:buChar char="•"/>
            </a:pPr>
            <a:r>
              <a:rPr lang="en-US" sz="2799" u="none">
                <a:solidFill>
                  <a:srgbClr val="000000"/>
                </a:solidFill>
                <a:latin typeface="Roboto"/>
                <a:ea typeface="Roboto"/>
                <a:cs typeface="Roboto"/>
                <a:sym typeface="Roboto"/>
              </a:rPr>
              <a:t>Pengembangan aplikasi jadi lebih cepat.</a:t>
            </a:r>
          </a:p>
          <a:p>
            <a:pPr algn="l" marL="604519" indent="-302260" lvl="1">
              <a:lnSpc>
                <a:spcPts val="3919"/>
              </a:lnSpc>
              <a:spcBef>
                <a:spcPct val="0"/>
              </a:spcBef>
              <a:buFont typeface="Arial"/>
              <a:buChar char="•"/>
            </a:pPr>
            <a:r>
              <a:rPr lang="en-US" sz="2799" u="none">
                <a:solidFill>
                  <a:srgbClr val="000000"/>
                </a:solidFill>
                <a:latin typeface="Roboto"/>
                <a:ea typeface="Roboto"/>
                <a:cs typeface="Roboto"/>
                <a:sym typeface="Roboto"/>
              </a:rPr>
              <a:t>F</a:t>
            </a:r>
            <a:r>
              <a:rPr lang="en-US" sz="2799" u="none">
                <a:solidFill>
                  <a:srgbClr val="000000"/>
                </a:solidFill>
                <a:latin typeface="Roboto"/>
                <a:ea typeface="Roboto"/>
                <a:cs typeface="Roboto"/>
                <a:sym typeface="Roboto"/>
              </a:rPr>
              <a:t>okus tim pada pengembangan produk, bukan infrastruktur.</a:t>
            </a:r>
          </a:p>
          <a:p>
            <a:pPr algn="l" marL="0" indent="0" lvl="0">
              <a:lnSpc>
                <a:spcPts val="3919"/>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DC3C5"/>
        </a:solidFill>
      </p:bgPr>
    </p:bg>
    <p:spTree>
      <p:nvGrpSpPr>
        <p:cNvPr id="1" name=""/>
        <p:cNvGrpSpPr/>
        <p:nvPr/>
      </p:nvGrpSpPr>
      <p:grpSpPr>
        <a:xfrm>
          <a:off x="0" y="0"/>
          <a:ext cx="0" cy="0"/>
          <a:chOff x="0" y="0"/>
          <a:chExt cx="0" cy="0"/>
        </a:xfrm>
      </p:grpSpPr>
      <p:sp>
        <p:nvSpPr>
          <p:cNvPr name="TextBox 2" id="2"/>
          <p:cNvSpPr txBox="true"/>
          <p:nvPr/>
        </p:nvSpPr>
        <p:spPr>
          <a:xfrm rot="0">
            <a:off x="3015458" y="4108664"/>
            <a:ext cx="12257083" cy="1758452"/>
          </a:xfrm>
          <a:prstGeom prst="rect">
            <a:avLst/>
          </a:prstGeom>
        </p:spPr>
        <p:txBody>
          <a:bodyPr anchor="t" rtlCol="false" tIns="0" lIns="0" bIns="0" rIns="0">
            <a:spAutoFit/>
          </a:bodyPr>
          <a:lstStyle/>
          <a:p>
            <a:pPr algn="ctr">
              <a:lnSpc>
                <a:spcPts val="11589"/>
              </a:lnSpc>
            </a:pPr>
            <a:r>
              <a:rPr lang="en-US" sz="11589">
                <a:solidFill>
                  <a:srgbClr val="000000"/>
                </a:solidFill>
                <a:latin typeface="Chunk Five"/>
                <a:ea typeface="Chunk Five"/>
                <a:cs typeface="Chunk Five"/>
                <a:sym typeface="Chunk Five"/>
              </a:rPr>
              <a:t>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DAGk_Sh3qog</dc:identifier>
  <dcterms:modified xsi:type="dcterms:W3CDTF">2011-08-01T06:04:30Z</dcterms:modified>
  <cp:revision>1</cp:revision>
  <dc:title>Presentasi Bisnis Cara Mudah Presentasi Ilustrasi Spot Bisnis Seru Ilustratif Merah Muda Terang dan Oranye</dc:title>
</cp:coreProperties>
</file>